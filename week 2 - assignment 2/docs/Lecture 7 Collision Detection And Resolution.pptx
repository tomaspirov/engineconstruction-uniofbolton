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68" r:id="rId17"/>
    <p:sldId id="272" r:id="rId18"/>
    <p:sldId id="273" r:id="rId19"/>
    <p:sldId id="274" r:id="rId20"/>
    <p:sldId id="297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2" r:id="rId57"/>
    <p:sldId id="313" r:id="rId58"/>
    <p:sldId id="314" r:id="rId59"/>
    <p:sldId id="315" r:id="rId60"/>
    <p:sldId id="311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1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6" y="1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8327F-91DD-4B96-8020-A292203BBC6E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B39B6-0394-41B1-B6C4-919DB239F6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689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4276E-0073-E6F1-3CDC-26986FA52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9C63E-10C8-D138-6908-9C5CFA13C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8D232-53D7-B6C7-F4C2-234F1C698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49CF0-B60B-4A17-A219-09A96147E598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E10E6-67E3-A009-1470-97643722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27BAE-4781-2DF5-87F1-D1B907001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B8F4B-C3EC-48FD-BD17-9DE0FD25B7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417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5641-4D1F-AFE8-9BE8-7A4E9B4C8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39C30-1391-CDBA-E602-7306E1CAB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D91AF-C556-24AF-389B-B30AE20FA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49CF0-B60B-4A17-A219-09A96147E598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092F0-69CD-8760-0575-F64571E81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C6AA5-617A-3CC8-910C-D72769BF8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B8F4B-C3EC-48FD-BD17-9DE0FD25B7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20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469A3-4791-A027-4C8A-CF5F37FB2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0CCCF-620B-4BF9-5011-1B04C7235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8F003-E4E4-B35C-EEDD-53463F0F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49CF0-B60B-4A17-A219-09A96147E598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E768-8CE0-45AA-6B9E-2A6372DE2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37657-74B6-FA75-467B-570C398A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B8F4B-C3EC-48FD-BD17-9DE0FD25B7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10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34323-6D59-353F-C739-6C090559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EF2F8-32BB-0112-BD0F-4225BF73D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22163-2870-EEEB-BADE-7E01A3B2A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B4D74-51A9-2D1D-D213-306E85155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49CF0-B60B-4A17-A219-09A96147E598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39EB3-989C-0AA3-9221-1E8047C9B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5468A-33E4-0D8C-CA54-2A2029F4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B8F4B-C3EC-48FD-BD17-9DE0FD25B7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969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1EAB-1BA9-7D45-FD95-30048F27E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6F221-E8E4-4A5C-D62F-0C54604ED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E6C24-AA5C-8998-1CC3-1A714B747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2ED58-AD2F-8196-780D-C6FC04DD0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2ED03-B924-5B89-A4B5-DDAF53759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D0F48F-AD63-A867-66DA-28E5934D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49CF0-B60B-4A17-A219-09A96147E598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FA1082-8143-43FB-8505-F1CBD1151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A67EDE-8CBC-958A-EC03-890568735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B8F4B-C3EC-48FD-BD17-9DE0FD25B7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18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AF11-7BD5-9830-0D32-A99FFCD7A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142A7-1BBF-3ABC-1330-08D9E945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49CF0-B60B-4A17-A219-09A96147E598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D43EC-BAB9-5D88-F38E-5AB93CE2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E74D9-E7CA-9D50-6030-5EE6D113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B8F4B-C3EC-48FD-BD17-9DE0FD25B7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01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717295-9887-4F53-5CE5-F638BC09F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49CF0-B60B-4A17-A219-09A96147E598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E615D-B503-A3BA-F7A4-AD1A9D75E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1BD3C-0D4D-97A2-5BE1-52572AA0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B8F4B-C3EC-48FD-BD17-9DE0FD25B7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8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A304-0F2D-29A8-58DF-A6FEAA3EE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F5724-44A8-FA74-0A23-D7C4F7585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E5CDF-C41A-0F90-C5AA-39D66D41F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350A9-F801-5CC3-9F6F-70202B557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49CF0-B60B-4A17-A219-09A96147E598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155B0-BA6B-5F24-330E-AE196160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3F92D-8FAA-06D7-775D-F507A372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B8F4B-C3EC-48FD-BD17-9DE0FD25B7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831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B4057-4432-AB0F-26A8-A59CD145A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1F2A3D-4B1A-0306-C78C-0A99D4273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3D94F-F197-91B0-46B2-201B93670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49A89-F416-0C56-0653-8A7F2BBD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49CF0-B60B-4A17-A219-09A96147E598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72C51-B8AB-FBC3-2363-17FB81CB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F16DB-93D5-8EBC-7FDB-BF268CA7A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B8F4B-C3EC-48FD-BD17-9DE0FD25B7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408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A6FD-CAC6-AE36-D624-A0BBF360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1E1FA-0E07-815C-9C47-A26B2945C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95EC1-8F44-70A4-5C0C-29A9FE42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49CF0-B60B-4A17-A219-09A96147E598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0E5CF-A807-D5E5-DC96-A6D44080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8F154-9C9F-A2FB-FC3D-F818659C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B8F4B-C3EC-48FD-BD17-9DE0FD25B7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63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8A63F-13AE-6DAD-7421-C4B15E978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76874-6140-9F80-9990-CB4225ACB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FD5A1-CE2B-EDC3-4EB3-DF9FE2B65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49CF0-B60B-4A17-A219-09A96147E598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D32A1-2579-BAEB-911D-F25070B5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59838-27BB-F014-C146-C58490D4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B8F4B-C3EC-48FD-BD17-9DE0FD25B7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866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5983B-B664-C299-92CC-158347B4F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AB52E-5E6E-85B5-E328-ECA655554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29865-E571-E029-8F7E-C04F11C5BD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49CF0-B60B-4A17-A219-09A96147E598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C705B-B3A9-4814-23F1-32A8532FE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1260A-8731-0160-8442-2E33F8D66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1B8F4B-C3EC-48FD-BD17-9DE0FD25B7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4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9BC6E02-DE37-DA18-7849-334DE5902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903" y="376990"/>
            <a:ext cx="5377841" cy="1736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C160CE-48EA-F2CA-908A-C1368D98F2F4}"/>
              </a:ext>
            </a:extLst>
          </p:cNvPr>
          <p:cNvSpPr txBox="1"/>
          <p:nvPr/>
        </p:nvSpPr>
        <p:spPr>
          <a:xfrm>
            <a:off x="981207" y="1513419"/>
            <a:ext cx="64760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Myriad Condensed" panose="020B0800000000000000" pitchFamily="34" charset="0"/>
              </a:rPr>
              <a:t>GAP 5503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Engine Construction</a:t>
            </a:r>
          </a:p>
          <a:p>
            <a:endParaRPr lang="en-GB" sz="3600" dirty="0">
              <a:latin typeface="Myriad Condensed" panose="020B0800000000000000" pitchFamily="34" charset="0"/>
            </a:endParaRPr>
          </a:p>
          <a:p>
            <a:endParaRPr lang="en-GB" sz="3600" dirty="0">
              <a:latin typeface="Myriad Condensed" panose="020B0800000000000000" pitchFamily="34" charset="0"/>
            </a:endParaRPr>
          </a:p>
          <a:p>
            <a:r>
              <a:rPr lang="en-GB" sz="3600" dirty="0">
                <a:solidFill>
                  <a:srgbClr val="C00000"/>
                </a:solidFill>
                <a:latin typeface="Myriad Condensed" panose="020B0800000000000000" pitchFamily="34" charset="0"/>
              </a:rPr>
              <a:t>Lecture 8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Collision Detection / Resolution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Axis Aligned Bounding Boxes (AABB)</a:t>
            </a:r>
          </a:p>
        </p:txBody>
      </p:sp>
    </p:spTree>
    <p:extLst>
      <p:ext uri="{BB962C8B-B14F-4D97-AF65-F5344CB8AC3E}">
        <p14:creationId xmlns:p14="http://schemas.microsoft.com/office/powerpoint/2010/main" val="940142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5EDB-2820-ADAB-7D0F-210D535D9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  <a:cs typeface="Narkisim" panose="020F0502020204030204" pitchFamily="34" charset="-79"/>
              </a:rPr>
              <a:t>Collisions in Games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F78A8-2957-2349-6DB1-4C08712F2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43478" cy="4351338"/>
          </a:xfrm>
        </p:spPr>
        <p:txBody>
          <a:bodyPr/>
          <a:lstStyle/>
          <a:p>
            <a:r>
              <a:rPr lang="en-GB" sz="3200" b="1" dirty="0">
                <a:latin typeface="Myriad Condensed" panose="020B0800000000000000" pitchFamily="34" charset="0"/>
              </a:rPr>
              <a:t>Collision programming involves 2 stages</a:t>
            </a:r>
            <a:endParaRPr lang="en-GB" sz="3200" dirty="0">
              <a:latin typeface="Myriad Condensed" panose="020B0800000000000000" pitchFamily="34" charset="0"/>
            </a:endParaRPr>
          </a:p>
          <a:p>
            <a:r>
              <a:rPr lang="en-GB" sz="3200" b="1" dirty="0">
                <a:latin typeface="Myriad Condensed" panose="020B0800000000000000" pitchFamily="34" charset="0"/>
              </a:rPr>
              <a:t>Collision </a:t>
            </a:r>
            <a:r>
              <a:rPr lang="en-GB" sz="3200" b="1" dirty="0">
                <a:solidFill>
                  <a:srgbClr val="FF0000"/>
                </a:solidFill>
                <a:latin typeface="Myriad Condensed" panose="020B0800000000000000" pitchFamily="34" charset="0"/>
              </a:rPr>
              <a:t>Detection</a:t>
            </a:r>
            <a:endParaRPr lang="en-GB" sz="3200" dirty="0">
              <a:solidFill>
                <a:srgbClr val="FF0000"/>
              </a:solidFill>
              <a:latin typeface="Myriad Condensed" panose="020B0800000000000000" pitchFamily="34" charset="0"/>
            </a:endParaRP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Given two moving entities with some given shape / bounds, determine if they intersect</a:t>
            </a: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Detection is a geometric problem</a:t>
            </a:r>
          </a:p>
          <a:p>
            <a:r>
              <a:rPr lang="en-GB" sz="3200" b="1" dirty="0">
                <a:latin typeface="Myriad Condensed" panose="020B0800000000000000" pitchFamily="34" charset="0"/>
              </a:rPr>
              <a:t>Collision </a:t>
            </a:r>
            <a:r>
              <a:rPr lang="en-GB" sz="3200" b="1" dirty="0">
                <a:solidFill>
                  <a:srgbClr val="FF0000"/>
                </a:solidFill>
                <a:latin typeface="Myriad Condensed" panose="020B0800000000000000" pitchFamily="34" charset="0"/>
              </a:rPr>
              <a:t>Resolution</a:t>
            </a:r>
            <a:endParaRPr lang="en-GB" sz="3200" dirty="0">
              <a:solidFill>
                <a:srgbClr val="FF0000"/>
              </a:solidFill>
              <a:latin typeface="Myriad Condensed" panose="020B0800000000000000" pitchFamily="34" charset="0"/>
            </a:endParaRP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Given that two entities have collided, determine what to do to 'resolve' the physics of the simulation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193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FB0D8-E9BC-FFD4-1711-610A87DD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Assumptions for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2B084-26AB-DF7F-F3FA-B8CD8874F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We will use the course definition of “</a:t>
            </a:r>
            <a:r>
              <a:rPr lang="en-GB" dirty="0">
                <a:solidFill>
                  <a:srgbClr val="FF0000"/>
                </a:solidFill>
                <a:latin typeface="Myriad Condensed" panose="020B0800000000000000" pitchFamily="34" charset="0"/>
              </a:rPr>
              <a:t>Entity</a:t>
            </a:r>
            <a:r>
              <a:rPr lang="en-GB" dirty="0">
                <a:latin typeface="Myriad Condensed" panose="020B0800000000000000" pitchFamily="34" charset="0"/>
              </a:rPr>
              <a:t>”</a:t>
            </a:r>
          </a:p>
          <a:p>
            <a:r>
              <a:rPr lang="en-GB" dirty="0">
                <a:latin typeface="Myriad Condensed" panose="020B0800000000000000" pitchFamily="34" charset="0"/>
              </a:rPr>
              <a:t>Assume that Entities have the following:</a:t>
            </a:r>
          </a:p>
          <a:p>
            <a:pPr lvl="1"/>
            <a:r>
              <a:rPr lang="en-GB" dirty="0">
                <a:solidFill>
                  <a:schemeClr val="accent1"/>
                </a:solidFill>
                <a:latin typeface="Myriad Condensed" panose="020B0800000000000000" pitchFamily="34" charset="0"/>
              </a:rPr>
              <a:t>Position</a:t>
            </a:r>
            <a:r>
              <a:rPr lang="en-GB" dirty="0">
                <a:latin typeface="Myriad Condensed" panose="020B0800000000000000" pitchFamily="34" charset="0"/>
              </a:rPr>
              <a:t> (x, y)</a:t>
            </a:r>
          </a:p>
          <a:p>
            <a:pPr lvl="1"/>
            <a:r>
              <a:rPr lang="en-GB" dirty="0">
                <a:solidFill>
                  <a:schemeClr val="accent3"/>
                </a:solidFill>
                <a:latin typeface="Myriad Condensed" panose="020B0800000000000000" pitchFamily="34" charset="0"/>
              </a:rPr>
              <a:t>Bounding Shape </a:t>
            </a:r>
            <a:r>
              <a:rPr lang="en-GB" dirty="0">
                <a:latin typeface="Myriad Condensed" panose="020B0800000000000000" pitchFamily="34" charset="0"/>
              </a:rPr>
              <a:t>(circle, rectangle, lines)</a:t>
            </a:r>
          </a:p>
          <a:p>
            <a:pPr lvl="1"/>
            <a:r>
              <a:rPr lang="en-GB" dirty="0">
                <a:solidFill>
                  <a:schemeClr val="accent5"/>
                </a:solidFill>
                <a:latin typeface="Myriad Condensed" panose="020B0800000000000000" pitchFamily="34" charset="0"/>
              </a:rPr>
              <a:t>Velocity</a:t>
            </a:r>
            <a:r>
              <a:rPr lang="en-GB" dirty="0">
                <a:latin typeface="Myriad Condensed" panose="020B0800000000000000" pitchFamily="34" charset="0"/>
              </a:rPr>
              <a:t> (dx, </a:t>
            </a:r>
            <a:r>
              <a:rPr lang="en-GB" dirty="0" err="1">
                <a:latin typeface="Myriad Condensed" panose="020B0800000000000000" pitchFamily="34" charset="0"/>
              </a:rPr>
              <a:t>dy</a:t>
            </a:r>
            <a:r>
              <a:rPr lang="en-GB" dirty="0">
                <a:latin typeface="Myriad Condensed" panose="020B0800000000000000" pitchFamily="34" charset="0"/>
              </a:rPr>
              <a:t>)</a:t>
            </a:r>
          </a:p>
          <a:p>
            <a:r>
              <a:rPr lang="en-GB" dirty="0">
                <a:latin typeface="Myriad Condensed" panose="020B0800000000000000" pitchFamily="34" charset="0"/>
              </a:rPr>
              <a:t>Our goal is to learn the mathematics that allows entities to interact in our game</a:t>
            </a:r>
          </a:p>
        </p:txBody>
      </p:sp>
    </p:spTree>
    <p:extLst>
      <p:ext uri="{BB962C8B-B14F-4D97-AF65-F5344CB8AC3E}">
        <p14:creationId xmlns:p14="http://schemas.microsoft.com/office/powerpoint/2010/main" val="3041537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D849-2124-D921-F038-294DDF66B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Collision Detection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612A9-47D9-340A-BF9E-493C1AEAD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Given two entities which have a speed, position, and bounding shape, determine if, when, where they will collide (intersect)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2F0702-71FB-898D-D44C-9C8EA2087D35}"/>
              </a:ext>
            </a:extLst>
          </p:cNvPr>
          <p:cNvCxnSpPr>
            <a:cxnSpLocks/>
          </p:cNvCxnSpPr>
          <p:nvPr/>
        </p:nvCxnSpPr>
        <p:spPr>
          <a:xfrm>
            <a:off x="4646762" y="4471581"/>
            <a:ext cx="1283521" cy="3046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5D16EB-E204-14FB-0984-2C1215480903}"/>
              </a:ext>
            </a:extLst>
          </p:cNvPr>
          <p:cNvCxnSpPr>
            <a:cxnSpLocks/>
          </p:cNvCxnSpPr>
          <p:nvPr/>
        </p:nvCxnSpPr>
        <p:spPr>
          <a:xfrm flipH="1">
            <a:off x="6463469" y="4522213"/>
            <a:ext cx="1196935" cy="25397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Bomb sprite | OpenGameArt.org">
            <a:extLst>
              <a:ext uri="{FF2B5EF4-FFF2-40B4-BE49-F238E27FC236}">
                <a16:creationId xmlns:a16="http://schemas.microsoft.com/office/drawing/2014/main" id="{BCFF3EA3-C0F7-5DAA-F098-2435F3B50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011" y="3589815"/>
            <a:ext cx="1321371" cy="1259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2d Enemies | OpenGameArt.org">
            <a:extLst>
              <a:ext uri="{FF2B5EF4-FFF2-40B4-BE49-F238E27FC236}">
                <a16:creationId xmlns:a16="http://schemas.microsoft.com/office/drawing/2014/main" id="{B11ECEE4-09E7-4BCA-B7D9-73684306A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330" y="2802621"/>
            <a:ext cx="202882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690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A5BFC-EF2D-C7A3-EBE1-B544DDAD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617B-C36F-C325-AB67-3FEA3177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Collision Detection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10235-BC42-4727-58BB-99BFD1FF1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Given two entities which have a speed, position, and bounding shape, determine if, when, where they will collide (intersect)</a:t>
            </a:r>
          </a:p>
        </p:txBody>
      </p:sp>
      <p:pic>
        <p:nvPicPr>
          <p:cNvPr id="2052" name="Picture 4" descr="2d Enemies | OpenGameArt.org">
            <a:extLst>
              <a:ext uri="{FF2B5EF4-FFF2-40B4-BE49-F238E27FC236}">
                <a16:creationId xmlns:a16="http://schemas.microsoft.com/office/drawing/2014/main" id="{94633E09-03B6-55AB-5250-C5019A361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302" y="2871788"/>
            <a:ext cx="2028825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Bomb sprite | OpenGameArt.org">
            <a:extLst>
              <a:ext uri="{FF2B5EF4-FFF2-40B4-BE49-F238E27FC236}">
                <a16:creationId xmlns:a16="http://schemas.microsoft.com/office/drawing/2014/main" id="{BDA652AF-DF9E-46C2-42E1-A3FA89790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84727"/>
            <a:ext cx="1761884" cy="167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161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91C7A-5125-A194-5315-3D7AA4CF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21B14-03D9-27AF-BC06-7A99D83D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Collision Detection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89C6A-48E7-3E3C-F902-B657B29FC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Given two entities which have a current position (only), </a:t>
            </a:r>
            <a:r>
              <a:rPr lang="en-GB" sz="3200" dirty="0">
                <a:solidFill>
                  <a:srgbClr val="C00000"/>
                </a:solidFill>
                <a:latin typeface="Myriad Condensed" panose="020B0800000000000000" pitchFamily="34" charset="0"/>
              </a:rPr>
              <a:t>do they intersect? </a:t>
            </a:r>
            <a:r>
              <a:rPr lang="en-GB" sz="3200" dirty="0">
                <a:latin typeface="Myriad Condensed" panose="020B0800000000000000" pitchFamily="34" charset="0"/>
              </a:rPr>
              <a:t>(bool)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E96E99-1A12-8758-1891-CCD76EF241B7}"/>
              </a:ext>
            </a:extLst>
          </p:cNvPr>
          <p:cNvSpPr/>
          <p:nvPr/>
        </p:nvSpPr>
        <p:spPr>
          <a:xfrm>
            <a:off x="2299076" y="3172087"/>
            <a:ext cx="3064476" cy="2261287"/>
          </a:xfrm>
          <a:prstGeom prst="rect">
            <a:avLst/>
          </a:prstGeom>
          <a:noFill/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400E38-C03E-68F7-8F4A-0B4E99ABF9A1}"/>
              </a:ext>
            </a:extLst>
          </p:cNvPr>
          <p:cNvSpPr/>
          <p:nvPr/>
        </p:nvSpPr>
        <p:spPr>
          <a:xfrm>
            <a:off x="4563762" y="3915676"/>
            <a:ext cx="3064476" cy="226128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D1D7DB-0FE8-E5E0-FA65-A43B41FF73EB}"/>
              </a:ext>
            </a:extLst>
          </p:cNvPr>
          <p:cNvSpPr/>
          <p:nvPr/>
        </p:nvSpPr>
        <p:spPr>
          <a:xfrm>
            <a:off x="7338554" y="4674525"/>
            <a:ext cx="861134" cy="87613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F90F9E-83BD-7396-BBFD-D8AA3DF613CF}"/>
              </a:ext>
            </a:extLst>
          </p:cNvPr>
          <p:cNvSpPr/>
          <p:nvPr/>
        </p:nvSpPr>
        <p:spPr>
          <a:xfrm>
            <a:off x="8199688" y="3034412"/>
            <a:ext cx="861134" cy="876130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4124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55686-117E-0F4F-C593-4C7A0319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75A1-146B-5DB5-04DB-BB37C3E5A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Collision Detection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3B95A-4CCB-13F8-9B75-05D50768D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Given two entities which have a current position (only), </a:t>
            </a:r>
            <a:r>
              <a:rPr lang="en-GB" sz="3200" dirty="0">
                <a:solidFill>
                  <a:srgbClr val="C00000"/>
                </a:solidFill>
                <a:latin typeface="Myriad Condensed" panose="020B0800000000000000" pitchFamily="34" charset="0"/>
              </a:rPr>
              <a:t>what is the overlap </a:t>
            </a:r>
            <a:r>
              <a:rPr lang="en-GB" sz="3200" dirty="0">
                <a:latin typeface="Myriad Condensed" panose="020B0800000000000000" pitchFamily="34" charset="0"/>
              </a:rPr>
              <a:t>? (x, 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CA8596-F436-C067-2899-50D3361997F7}"/>
              </a:ext>
            </a:extLst>
          </p:cNvPr>
          <p:cNvSpPr/>
          <p:nvPr/>
        </p:nvSpPr>
        <p:spPr>
          <a:xfrm>
            <a:off x="2299076" y="3172087"/>
            <a:ext cx="3064476" cy="2261287"/>
          </a:xfrm>
          <a:prstGeom prst="rect">
            <a:avLst/>
          </a:prstGeom>
          <a:noFill/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5C4A27-A315-5C29-FF20-7FC7A8BC5637}"/>
              </a:ext>
            </a:extLst>
          </p:cNvPr>
          <p:cNvSpPr/>
          <p:nvPr/>
        </p:nvSpPr>
        <p:spPr>
          <a:xfrm>
            <a:off x="4563762" y="3915676"/>
            <a:ext cx="3064476" cy="226128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4E8D9E-762F-9417-186C-3149F498A22B}"/>
              </a:ext>
            </a:extLst>
          </p:cNvPr>
          <p:cNvSpPr/>
          <p:nvPr/>
        </p:nvSpPr>
        <p:spPr>
          <a:xfrm>
            <a:off x="4563762" y="3915675"/>
            <a:ext cx="799790" cy="1517699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393A8D-A2BC-2158-89C0-CB9322C9D368}"/>
              </a:ext>
            </a:extLst>
          </p:cNvPr>
          <p:cNvSpPr/>
          <p:nvPr/>
        </p:nvSpPr>
        <p:spPr>
          <a:xfrm>
            <a:off x="8360686" y="3366739"/>
            <a:ext cx="799790" cy="1517699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2A4109-35D9-ECFD-4B59-47E9CBF58D2B}"/>
              </a:ext>
            </a:extLst>
          </p:cNvPr>
          <p:cNvSpPr txBox="1"/>
          <p:nvPr/>
        </p:nvSpPr>
        <p:spPr>
          <a:xfrm>
            <a:off x="8596714" y="2837605"/>
            <a:ext cx="327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W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6DB957-C92D-8F46-6C21-4D7C1912941E}"/>
              </a:ext>
            </a:extLst>
          </p:cNvPr>
          <p:cNvSpPr txBox="1"/>
          <p:nvPr/>
        </p:nvSpPr>
        <p:spPr>
          <a:xfrm>
            <a:off x="9276276" y="3841065"/>
            <a:ext cx="327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H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77374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E31FC-BF6B-56BF-2A23-42844EE0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C545-0410-5F95-2839-BCE3771BB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Entity Bounding Shapes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43871-E90E-F04E-E894-22CF49BB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In the real world, objects can have arbitrary shapes / interaction </a:t>
            </a:r>
            <a:r>
              <a:rPr lang="en-GB" sz="3200" dirty="0">
                <a:solidFill>
                  <a:srgbClr val="C00000"/>
                </a:solidFill>
                <a:latin typeface="Myriad Condensed" panose="020B0800000000000000" pitchFamily="34" charset="0"/>
              </a:rPr>
              <a:t>surfaces</a:t>
            </a:r>
          </a:p>
          <a:p>
            <a:r>
              <a:rPr lang="en-GB" sz="3200" dirty="0">
                <a:latin typeface="Myriad Condensed" panose="020B0800000000000000" pitchFamily="34" charset="0"/>
              </a:rPr>
              <a:t>These are </a:t>
            </a:r>
            <a:r>
              <a:rPr lang="en-GB" sz="3200" dirty="0">
                <a:solidFill>
                  <a:srgbClr val="C00000"/>
                </a:solidFill>
                <a:latin typeface="Myriad Condensed" panose="020B0800000000000000" pitchFamily="34" charset="0"/>
              </a:rPr>
              <a:t>difficult</a:t>
            </a:r>
            <a:r>
              <a:rPr lang="en-GB" sz="3200" dirty="0">
                <a:latin typeface="Myriad Condensed" panose="020B0800000000000000" pitchFamily="34" charset="0"/>
              </a:rPr>
              <a:t> to store, compute, and simulate accurately / continuously</a:t>
            </a:r>
          </a:p>
          <a:p>
            <a:r>
              <a:rPr lang="en-GB" sz="3200" dirty="0">
                <a:latin typeface="Myriad Condensed" panose="020B0800000000000000" pitchFamily="34" charset="0"/>
              </a:rPr>
              <a:t>All shapes in computer simulations must be made of </a:t>
            </a:r>
            <a:r>
              <a:rPr lang="en-GB" sz="3200" dirty="0">
                <a:solidFill>
                  <a:srgbClr val="C00000"/>
                </a:solidFill>
                <a:latin typeface="Myriad Condensed" panose="020B0800000000000000" pitchFamily="34" charset="0"/>
              </a:rPr>
              <a:t>primitive</a:t>
            </a:r>
            <a:r>
              <a:rPr lang="en-GB" sz="3200" dirty="0">
                <a:latin typeface="Myriad Condensed" panose="020B0800000000000000" pitchFamily="34" charset="0"/>
              </a:rPr>
              <a:t> types	</a:t>
            </a: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 2D: Line, Triangle, Circle, Rectangle</a:t>
            </a:r>
          </a:p>
          <a:p>
            <a:pPr lvl="1"/>
            <a:r>
              <a:rPr lang="en-GB" sz="2800" dirty="0">
                <a:latin typeface="Myriad Condensed" panose="020B0800000000000000" pitchFamily="34" charset="0"/>
              </a:rPr>
              <a:t>3D: Sphere, Plane, Cylinder, Prism</a:t>
            </a:r>
          </a:p>
          <a:p>
            <a:r>
              <a:rPr lang="en-GB" sz="3200" dirty="0">
                <a:latin typeface="Myriad Condensed" panose="020B0800000000000000" pitchFamily="34" charset="0"/>
              </a:rPr>
              <a:t>Bounding shape concept: simulate the </a:t>
            </a:r>
            <a:r>
              <a:rPr lang="en-GB" sz="3200" dirty="0">
                <a:solidFill>
                  <a:srgbClr val="C00000"/>
                </a:solidFill>
                <a:latin typeface="Myriad Condensed" panose="020B0800000000000000" pitchFamily="34" charset="0"/>
              </a:rPr>
              <a:t>interaction</a:t>
            </a:r>
            <a:r>
              <a:rPr lang="en-GB" sz="3200" dirty="0">
                <a:latin typeface="Myriad Condensed" panose="020B0800000000000000" pitchFamily="34" charset="0"/>
              </a:rPr>
              <a:t> </a:t>
            </a:r>
            <a:r>
              <a:rPr lang="en-GB" sz="3200" dirty="0">
                <a:solidFill>
                  <a:srgbClr val="C00000"/>
                </a:solidFill>
                <a:latin typeface="Myriad Condensed" panose="020B0800000000000000" pitchFamily="34" charset="0"/>
              </a:rPr>
              <a:t>bounds</a:t>
            </a:r>
            <a:r>
              <a:rPr lang="en-GB" sz="3200" dirty="0">
                <a:latin typeface="Myriad Condensed" panose="020B0800000000000000" pitchFamily="34" charset="0"/>
              </a:rPr>
              <a:t> of a complex shape with a simpler one</a:t>
            </a:r>
          </a:p>
        </p:txBody>
      </p:sp>
    </p:spTree>
    <p:extLst>
      <p:ext uri="{BB962C8B-B14F-4D97-AF65-F5344CB8AC3E}">
        <p14:creationId xmlns:p14="http://schemas.microsoft.com/office/powerpoint/2010/main" val="3247117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89E4-43C4-FB25-979E-B99C3644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Entity Bounding Shape Example</a:t>
            </a:r>
          </a:p>
        </p:txBody>
      </p:sp>
      <p:sp>
        <p:nvSpPr>
          <p:cNvPr id="6" name="Octagon 5">
            <a:extLst>
              <a:ext uri="{FF2B5EF4-FFF2-40B4-BE49-F238E27FC236}">
                <a16:creationId xmlns:a16="http://schemas.microsoft.com/office/drawing/2014/main" id="{0F8843B3-5C1A-3C7C-4D1A-C0092CCB1815}"/>
              </a:ext>
            </a:extLst>
          </p:cNvPr>
          <p:cNvSpPr/>
          <p:nvPr/>
        </p:nvSpPr>
        <p:spPr>
          <a:xfrm>
            <a:off x="6906827" y="2663301"/>
            <a:ext cx="1961965" cy="1970842"/>
          </a:xfrm>
          <a:prstGeom prst="octagon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098" name="Picture 2" descr="Pixel art Character Animations guide | Sandro Maglione">
            <a:extLst>
              <a:ext uri="{FF2B5EF4-FFF2-40B4-BE49-F238E27FC236}">
                <a16:creationId xmlns:a16="http://schemas.microsoft.com/office/drawing/2014/main" id="{1EB3370F-9DAA-55E4-0070-90B25BB4D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306" y="217133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668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B6106-2EC7-49A9-B6E6-01F67566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031C5-5D8B-762D-B043-C7839019B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Entity Bounding Shape Example</a:t>
            </a:r>
          </a:p>
        </p:txBody>
      </p:sp>
      <p:sp>
        <p:nvSpPr>
          <p:cNvPr id="6" name="Octagon 5">
            <a:extLst>
              <a:ext uri="{FF2B5EF4-FFF2-40B4-BE49-F238E27FC236}">
                <a16:creationId xmlns:a16="http://schemas.microsoft.com/office/drawing/2014/main" id="{7D7C1A74-2965-33BD-1542-2FBC0115C43C}"/>
              </a:ext>
            </a:extLst>
          </p:cNvPr>
          <p:cNvSpPr/>
          <p:nvPr/>
        </p:nvSpPr>
        <p:spPr>
          <a:xfrm>
            <a:off x="6906827" y="2663301"/>
            <a:ext cx="1961965" cy="1970842"/>
          </a:xfrm>
          <a:prstGeom prst="octagon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098" name="Picture 2" descr="Pixel art Character Animations guide | Sandro Maglione">
            <a:extLst>
              <a:ext uri="{FF2B5EF4-FFF2-40B4-BE49-F238E27FC236}">
                <a16:creationId xmlns:a16="http://schemas.microsoft.com/office/drawing/2014/main" id="{68EC598A-D3DE-F056-39E3-7E5A4F2BC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306" y="217133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8D4B693-30C4-1DFC-846A-C6520AAD852A}"/>
              </a:ext>
            </a:extLst>
          </p:cNvPr>
          <p:cNvSpPr/>
          <p:nvPr/>
        </p:nvSpPr>
        <p:spPr>
          <a:xfrm>
            <a:off x="2254928" y="2805343"/>
            <a:ext cx="1384917" cy="156247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BCF3E2-4AE0-8366-F6F1-F0BD3D58EC51}"/>
              </a:ext>
            </a:extLst>
          </p:cNvPr>
          <p:cNvSpPr/>
          <p:nvPr/>
        </p:nvSpPr>
        <p:spPr>
          <a:xfrm>
            <a:off x="6782540" y="2530135"/>
            <a:ext cx="2219418" cy="2219417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81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C927-1E38-B761-E60D-0F449387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2D Bounding Shapes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8581E-7DF0-6374-FE9E-70B168F1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Myriad Condensed" panose="020B0800000000000000" pitchFamily="34" charset="0"/>
              </a:rPr>
              <a:t>The </a:t>
            </a:r>
            <a:r>
              <a:rPr lang="en-GB" sz="4000" u="sng" dirty="0">
                <a:solidFill>
                  <a:srgbClr val="C00000"/>
                </a:solidFill>
                <a:latin typeface="Myriad Condensed" panose="020B0800000000000000" pitchFamily="34" charset="0"/>
              </a:rPr>
              <a:t>simplest</a:t>
            </a:r>
            <a:r>
              <a:rPr lang="en-GB" sz="4000" dirty="0">
                <a:latin typeface="Myriad Condensed" panose="020B0800000000000000" pitchFamily="34" charset="0"/>
              </a:rPr>
              <a:t> 2D bounding shape to store and compute is a circle with given radius </a:t>
            </a:r>
          </a:p>
          <a:p>
            <a:pPr lvl="1"/>
            <a:r>
              <a:rPr lang="en-GB" sz="3600" dirty="0">
                <a:latin typeface="Myriad Condensed" panose="020B0800000000000000" pitchFamily="34" charset="0"/>
              </a:rPr>
              <a:t>We have already covered </a:t>
            </a:r>
            <a:r>
              <a:rPr lang="en-GB" sz="3600" dirty="0">
                <a:solidFill>
                  <a:srgbClr val="C00000"/>
                </a:solidFill>
                <a:latin typeface="Myriad Condensed" panose="020B0800000000000000" pitchFamily="34" charset="0"/>
              </a:rPr>
              <a:t>circle</a:t>
            </a:r>
            <a:r>
              <a:rPr lang="en-GB" sz="3600" dirty="0">
                <a:latin typeface="Myriad Condensed" panose="020B0800000000000000" pitchFamily="34" charset="0"/>
              </a:rPr>
              <a:t> intersection</a:t>
            </a:r>
          </a:p>
          <a:p>
            <a:r>
              <a:rPr lang="en-GB" sz="4000" dirty="0">
                <a:latin typeface="Myriad Condensed" panose="020B0800000000000000" pitchFamily="34" charset="0"/>
              </a:rPr>
              <a:t>Other 2D bounding shapes can be constructed with a number of </a:t>
            </a:r>
            <a:r>
              <a:rPr lang="en-GB" sz="4000" dirty="0">
                <a:solidFill>
                  <a:srgbClr val="C00000"/>
                </a:solidFill>
                <a:latin typeface="Myriad Condensed" panose="020B0800000000000000" pitchFamily="34" charset="0"/>
              </a:rPr>
              <a:t>line segments</a:t>
            </a:r>
          </a:p>
          <a:p>
            <a:r>
              <a:rPr lang="en-GB" sz="4000" dirty="0">
                <a:latin typeface="Myriad Condensed" panose="020B0800000000000000" pitchFamily="34" charset="0"/>
              </a:rPr>
              <a:t>The simplest of these is a </a:t>
            </a:r>
            <a:r>
              <a:rPr lang="en-GB" sz="4000" dirty="0">
                <a:solidFill>
                  <a:srgbClr val="C00000"/>
                </a:solidFill>
                <a:latin typeface="Myriad Condensed" panose="020B0800000000000000" pitchFamily="34" charset="0"/>
              </a:rPr>
              <a:t>rectangle</a:t>
            </a:r>
            <a:r>
              <a:rPr lang="en-GB" sz="4000" dirty="0">
                <a:latin typeface="Myriad Condensed" panose="020B0800000000000000" pitchFamily="34" charset="0"/>
              </a:rPr>
              <a:t> </a:t>
            </a:r>
          </a:p>
          <a:p>
            <a:pPr lvl="1"/>
            <a:r>
              <a:rPr lang="en-GB" sz="3600" dirty="0">
                <a:latin typeface="Myriad Condensed" panose="020B0800000000000000" pitchFamily="34" charset="0"/>
              </a:rPr>
              <a:t>Bounding Rectangle / Bounding Box</a:t>
            </a:r>
          </a:p>
        </p:txBody>
      </p:sp>
    </p:spTree>
    <p:extLst>
      <p:ext uri="{BB962C8B-B14F-4D97-AF65-F5344CB8AC3E}">
        <p14:creationId xmlns:p14="http://schemas.microsoft.com/office/powerpoint/2010/main" val="3913905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C69BE-2318-C17F-BBA4-752770CAB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77568-78E6-0627-0181-B6F4ABB4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Bounding Box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CA5AD-D3E9-0294-6CB0-DEBD37D6A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8751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>
                <a:latin typeface="Myriad Condensed" panose="020B0800000000000000" pitchFamily="34" charset="0"/>
              </a:rPr>
              <a:t>Most classic 2D games use rectangular sprite graphics</a:t>
            </a:r>
          </a:p>
          <a:p>
            <a:pPr>
              <a:lnSpc>
                <a:spcPct val="100000"/>
              </a:lnSpc>
            </a:pPr>
            <a:r>
              <a:rPr lang="en-GB" dirty="0">
                <a:latin typeface="Myriad Condensed" panose="020B0800000000000000" pitchFamily="34" charset="0"/>
              </a:rPr>
              <a:t>These rectangular images make a natural fit for rectangular bounding box</a:t>
            </a:r>
          </a:p>
          <a:p>
            <a:pPr>
              <a:lnSpc>
                <a:spcPct val="100000"/>
              </a:lnSpc>
            </a:pPr>
            <a:r>
              <a:rPr lang="en-GB" dirty="0">
                <a:latin typeface="Myriad Condensed" panose="020B0800000000000000" pitchFamily="34" charset="0"/>
              </a:rPr>
              <a:t>Usually, the bounding box will be the smallest rectangle that fits the sprite, so we can use the texture size as the bounding box size</a:t>
            </a:r>
          </a:p>
          <a:p>
            <a:pPr>
              <a:lnSpc>
                <a:spcPct val="100000"/>
              </a:lnSpc>
            </a:pPr>
            <a:r>
              <a:rPr lang="en-GB" dirty="0">
                <a:latin typeface="Myriad Condensed" panose="020B0800000000000000" pitchFamily="34" charset="0"/>
              </a:rPr>
              <a:t>However sometimes, this is not the case</a:t>
            </a:r>
          </a:p>
        </p:txBody>
      </p:sp>
      <p:pic>
        <p:nvPicPr>
          <p:cNvPr id="4" name="Picture 2" descr="Pixel art Character Animations guide | Sandro Maglione">
            <a:extLst>
              <a:ext uri="{FF2B5EF4-FFF2-40B4-BE49-F238E27FC236}">
                <a16:creationId xmlns:a16="http://schemas.microsoft.com/office/drawing/2014/main" id="{7D631750-3DCC-032B-8303-02C3D81CC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926" y="1212541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0DF994-95A7-9196-CD56-624C0375CA52}"/>
              </a:ext>
            </a:extLst>
          </p:cNvPr>
          <p:cNvSpPr/>
          <p:nvPr/>
        </p:nvSpPr>
        <p:spPr>
          <a:xfrm>
            <a:off x="8886548" y="1846554"/>
            <a:ext cx="1384917" cy="156247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077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8DFD8-880F-DACE-BD5D-BB85EB612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1A14-C04A-8BF8-1BB5-D968CA64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Bounding Box Size</a:t>
            </a:r>
          </a:p>
        </p:txBody>
      </p:sp>
      <p:pic>
        <p:nvPicPr>
          <p:cNvPr id="11" name="Picture 10" descr="A brick wall with black and orange bricks&#10;&#10;AI-generated content may be incorrect.">
            <a:extLst>
              <a:ext uri="{FF2B5EF4-FFF2-40B4-BE49-F238E27FC236}">
                <a16:creationId xmlns:a16="http://schemas.microsoft.com/office/drawing/2014/main" id="{8D8AA621-08D5-3752-26E0-29FA8C5F4D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6"/>
          <a:stretch>
            <a:fillRect/>
          </a:stretch>
        </p:blipFill>
        <p:spPr>
          <a:xfrm>
            <a:off x="1920535" y="1917391"/>
            <a:ext cx="1714622" cy="1710278"/>
          </a:xfrm>
          <a:prstGeom prst="rect">
            <a:avLst/>
          </a:prstGeom>
        </p:spPr>
      </p:pic>
      <p:pic>
        <p:nvPicPr>
          <p:cNvPr id="15" name="Picture 14" descr="A pixelated square with a question mark&#10;&#10;AI-generated content may be incorrect.">
            <a:extLst>
              <a:ext uri="{FF2B5EF4-FFF2-40B4-BE49-F238E27FC236}">
                <a16:creationId xmlns:a16="http://schemas.microsoft.com/office/drawing/2014/main" id="{D9413FD6-0F00-6EF4-D092-2B25918F2D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80"/>
          <a:stretch>
            <a:fillRect/>
          </a:stretch>
        </p:blipFill>
        <p:spPr>
          <a:xfrm>
            <a:off x="4610547" y="1908630"/>
            <a:ext cx="1714622" cy="1727800"/>
          </a:xfrm>
          <a:prstGeom prst="rect">
            <a:avLst/>
          </a:prstGeom>
        </p:spPr>
      </p:pic>
      <p:pic>
        <p:nvPicPr>
          <p:cNvPr id="17" name="Picture 1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2452B04A-1D12-8ED9-FCD5-E7D91FE743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31"/>
          <a:stretch>
            <a:fillRect/>
          </a:stretch>
        </p:blipFill>
        <p:spPr>
          <a:xfrm>
            <a:off x="6327561" y="4093928"/>
            <a:ext cx="1879108" cy="1731094"/>
          </a:xfrm>
          <a:prstGeom prst="rect">
            <a:avLst/>
          </a:prstGeom>
        </p:spPr>
      </p:pic>
      <p:pic>
        <p:nvPicPr>
          <p:cNvPr id="6146" name="Picture 2" descr="Pixilart - Mario Sprite 1985 OG by Lazerwolf">
            <a:extLst>
              <a:ext uri="{FF2B5EF4-FFF2-40B4-BE49-F238E27FC236}">
                <a16:creationId xmlns:a16="http://schemas.microsoft.com/office/drawing/2014/main" id="{EF193022-C723-50A9-12EE-B11AC8F25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881" y="3661116"/>
            <a:ext cx="2543452" cy="254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3B9ACD-1C4B-D840-D95F-9D2747C19497}"/>
              </a:ext>
            </a:extLst>
          </p:cNvPr>
          <p:cNvSpPr/>
          <p:nvPr/>
        </p:nvSpPr>
        <p:spPr>
          <a:xfrm>
            <a:off x="1920535" y="1892265"/>
            <a:ext cx="1714622" cy="176885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A5E9F6-B451-A16A-06BA-60D53674EB7A}"/>
              </a:ext>
            </a:extLst>
          </p:cNvPr>
          <p:cNvSpPr/>
          <p:nvPr/>
        </p:nvSpPr>
        <p:spPr>
          <a:xfrm>
            <a:off x="1856296" y="3935608"/>
            <a:ext cx="1714622" cy="203018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91D687-C916-E625-9544-033365B98B19}"/>
              </a:ext>
            </a:extLst>
          </p:cNvPr>
          <p:cNvSpPr/>
          <p:nvPr/>
        </p:nvSpPr>
        <p:spPr>
          <a:xfrm>
            <a:off x="4610547" y="1917391"/>
            <a:ext cx="1714622" cy="174372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E1A559-BF37-B5A3-F9D2-62F81556B7AA}"/>
              </a:ext>
            </a:extLst>
          </p:cNvPr>
          <p:cNvSpPr/>
          <p:nvPr/>
        </p:nvSpPr>
        <p:spPr>
          <a:xfrm>
            <a:off x="6327560" y="4093928"/>
            <a:ext cx="1879107" cy="174372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743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D1FDD-8F93-1CA3-DE52-2AFCD5400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40FF8-0AF6-6B57-2959-2C015F22F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Bounding Box Size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4A0D23-C7E5-1915-ED13-C17F9874512D}"/>
              </a:ext>
            </a:extLst>
          </p:cNvPr>
          <p:cNvSpPr/>
          <p:nvPr/>
        </p:nvSpPr>
        <p:spPr>
          <a:xfrm>
            <a:off x="2030628" y="3424102"/>
            <a:ext cx="1166958" cy="146641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5D92AF-5B6E-F9B9-5F5B-348E6E9DC087}"/>
              </a:ext>
            </a:extLst>
          </p:cNvPr>
          <p:cNvSpPr/>
          <p:nvPr/>
        </p:nvSpPr>
        <p:spPr>
          <a:xfrm>
            <a:off x="3751119" y="3424102"/>
            <a:ext cx="1433946" cy="146641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pixelated video game character&#10;&#10;AI-generated content may be incorrect.">
            <a:extLst>
              <a:ext uri="{FF2B5EF4-FFF2-40B4-BE49-F238E27FC236}">
                <a16:creationId xmlns:a16="http://schemas.microsoft.com/office/drawing/2014/main" id="{B523160D-1906-F30C-963D-D26BD351F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513" y="3429000"/>
            <a:ext cx="996876" cy="1323439"/>
          </a:xfrm>
          <a:prstGeom prst="rect">
            <a:avLst/>
          </a:prstGeom>
        </p:spPr>
      </p:pic>
      <p:pic>
        <p:nvPicPr>
          <p:cNvPr id="9" name="Picture 8" descr="A pixelated cartoon character with arms outstretched&#10;&#10;AI-generated content may be incorrect.">
            <a:extLst>
              <a:ext uri="{FF2B5EF4-FFF2-40B4-BE49-F238E27FC236}">
                <a16:creationId xmlns:a16="http://schemas.microsoft.com/office/drawing/2014/main" id="{9A275B3B-A644-432B-600F-C2865BE41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160" y="3487473"/>
            <a:ext cx="1161663" cy="1403048"/>
          </a:xfrm>
          <a:prstGeom prst="rect">
            <a:avLst/>
          </a:prstGeom>
        </p:spPr>
      </p:pic>
      <p:pic>
        <p:nvPicPr>
          <p:cNvPr id="14" name="Picture 13" descr="A pixelated video game character&#10;&#10;AI-generated content may be incorrect.">
            <a:extLst>
              <a:ext uri="{FF2B5EF4-FFF2-40B4-BE49-F238E27FC236}">
                <a16:creationId xmlns:a16="http://schemas.microsoft.com/office/drawing/2014/main" id="{A5FB3DFB-5107-DBC0-83F9-E7A2A1578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492" y="3424101"/>
            <a:ext cx="3436645" cy="132556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3F8B469-8D47-DB36-5008-09EDB68BD565}"/>
              </a:ext>
            </a:extLst>
          </p:cNvPr>
          <p:cNvSpPr/>
          <p:nvPr/>
        </p:nvSpPr>
        <p:spPr>
          <a:xfrm>
            <a:off x="5828707" y="3424102"/>
            <a:ext cx="3762102" cy="146641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C22172-8C5E-3CAE-082E-3D384CDA7DFE}"/>
              </a:ext>
            </a:extLst>
          </p:cNvPr>
          <p:cNvSpPr txBox="1"/>
          <p:nvPr/>
        </p:nvSpPr>
        <p:spPr>
          <a:xfrm>
            <a:off x="1291717" y="1603335"/>
            <a:ext cx="90264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000" dirty="0">
                <a:latin typeface="Myriad Condensed" panose="020B0800000000000000" pitchFamily="34" charset="0"/>
              </a:rPr>
              <a:t>Sometimes the bounding box does not fit the exact bounds of the sprite texture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314941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B7F4B-688C-1FEB-BAC6-289BCA3F1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498B7-FC3A-39DE-BEC0-83AD6F4B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Bounding Box Size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5BB811-95F5-761E-0E16-49BF88E7EB04}"/>
              </a:ext>
            </a:extLst>
          </p:cNvPr>
          <p:cNvSpPr/>
          <p:nvPr/>
        </p:nvSpPr>
        <p:spPr>
          <a:xfrm>
            <a:off x="2030628" y="3424102"/>
            <a:ext cx="1166958" cy="146641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8F0B67-07C4-0901-31CE-8A95A91C9A45}"/>
              </a:ext>
            </a:extLst>
          </p:cNvPr>
          <p:cNvSpPr/>
          <p:nvPr/>
        </p:nvSpPr>
        <p:spPr>
          <a:xfrm>
            <a:off x="3751119" y="3424102"/>
            <a:ext cx="1433946" cy="146641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pixelated video game character&#10;&#10;AI-generated content may be incorrect.">
            <a:extLst>
              <a:ext uri="{FF2B5EF4-FFF2-40B4-BE49-F238E27FC236}">
                <a16:creationId xmlns:a16="http://schemas.microsoft.com/office/drawing/2014/main" id="{8BAC9426-4067-23C7-A1FC-D372AA641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513" y="3429000"/>
            <a:ext cx="996876" cy="1323439"/>
          </a:xfrm>
          <a:prstGeom prst="rect">
            <a:avLst/>
          </a:prstGeom>
        </p:spPr>
      </p:pic>
      <p:pic>
        <p:nvPicPr>
          <p:cNvPr id="9" name="Picture 8" descr="A pixelated cartoon character with arms outstretched&#10;&#10;AI-generated content may be incorrect.">
            <a:extLst>
              <a:ext uri="{FF2B5EF4-FFF2-40B4-BE49-F238E27FC236}">
                <a16:creationId xmlns:a16="http://schemas.microsoft.com/office/drawing/2014/main" id="{62930543-0408-1EE7-2BC8-226741766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160" y="3487473"/>
            <a:ext cx="1161663" cy="1403048"/>
          </a:xfrm>
          <a:prstGeom prst="rect">
            <a:avLst/>
          </a:prstGeom>
        </p:spPr>
      </p:pic>
      <p:pic>
        <p:nvPicPr>
          <p:cNvPr id="14" name="Picture 13" descr="A pixelated video game character&#10;&#10;AI-generated content may be incorrect.">
            <a:extLst>
              <a:ext uri="{FF2B5EF4-FFF2-40B4-BE49-F238E27FC236}">
                <a16:creationId xmlns:a16="http://schemas.microsoft.com/office/drawing/2014/main" id="{C02FE999-8DEF-4F18-F74A-9C1E3CBED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492" y="3424101"/>
            <a:ext cx="3436645" cy="132556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1F21867-F347-B22F-BF34-5FC3A05D2666}"/>
              </a:ext>
            </a:extLst>
          </p:cNvPr>
          <p:cNvSpPr/>
          <p:nvPr/>
        </p:nvSpPr>
        <p:spPr>
          <a:xfrm>
            <a:off x="5828707" y="3424102"/>
            <a:ext cx="3762102" cy="146641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44ED35-0223-F171-4DDD-4DED6B89E8C0}"/>
              </a:ext>
            </a:extLst>
          </p:cNvPr>
          <p:cNvSpPr txBox="1"/>
          <p:nvPr/>
        </p:nvSpPr>
        <p:spPr>
          <a:xfrm>
            <a:off x="1291717" y="1603335"/>
            <a:ext cx="90264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Myriad Condensed" panose="020B0800000000000000" pitchFamily="34" charset="0"/>
              </a:rPr>
              <a:t>Sometimes the bounding box does not fit the exact bounds of the sprite texture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3600" dirty="0">
                <a:latin typeface="Myriad Condensed" panose="020B0800000000000000" pitchFamily="34" charset="0"/>
              </a:rPr>
              <a:t>So make a custom sized bounding box</a:t>
            </a:r>
            <a:endParaRPr lang="en-GB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10AC1D-DA16-A3EC-4472-000DA65BCDA2}"/>
              </a:ext>
            </a:extLst>
          </p:cNvPr>
          <p:cNvSpPr/>
          <p:nvPr/>
        </p:nvSpPr>
        <p:spPr>
          <a:xfrm>
            <a:off x="2122513" y="3487473"/>
            <a:ext cx="984964" cy="126986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564896-8AF8-52FC-95D7-622A7F5E1AFC}"/>
              </a:ext>
            </a:extLst>
          </p:cNvPr>
          <p:cNvSpPr/>
          <p:nvPr/>
        </p:nvSpPr>
        <p:spPr>
          <a:xfrm>
            <a:off x="3861160" y="3505502"/>
            <a:ext cx="1161662" cy="126986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2065D-B078-227F-56DA-EE3FFD441DFB}"/>
              </a:ext>
            </a:extLst>
          </p:cNvPr>
          <p:cNvSpPr/>
          <p:nvPr/>
        </p:nvSpPr>
        <p:spPr>
          <a:xfrm>
            <a:off x="5989492" y="3550228"/>
            <a:ext cx="1161662" cy="1199436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564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4FA33CB6-2116-2198-65E9-870229356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01" b="99528" l="64" r="99873">
                        <a14:foregroundMark x1="9236" y1="5503" x2="1656" y2="4088"/>
                        <a14:foregroundMark x1="1656" y1="4088" x2="3312" y2="69340"/>
                        <a14:foregroundMark x1="3312" y1="69340" x2="14395" y2="89937"/>
                        <a14:foregroundMark x1="14395" y1="89937" x2="29045" y2="74371"/>
                        <a14:foregroundMark x1="29045" y1="74371" x2="25096" y2="30189"/>
                        <a14:foregroundMark x1="25096" y1="30189" x2="8917" y2="4874"/>
                        <a14:foregroundMark x1="8917" y1="4874" x2="7898" y2="4088"/>
                        <a14:foregroundMark x1="74777" y1="21698" x2="73121" y2="84277"/>
                        <a14:foregroundMark x1="73121" y1="84277" x2="2102" y2="90881"/>
                        <a14:foregroundMark x1="2102" y1="90881" x2="3822" y2="18239"/>
                        <a14:foregroundMark x1="3822" y1="18239" x2="63121" y2="8648"/>
                        <a14:foregroundMark x1="63121" y1="8648" x2="72357" y2="12736"/>
                        <a14:foregroundMark x1="69936" y1="18711" x2="51274" y2="8176"/>
                        <a14:foregroundMark x1="51274" y1="8176" x2="22739" y2="37264"/>
                        <a14:foregroundMark x1="22739" y1="37264" x2="47516" y2="76730"/>
                        <a14:foregroundMark x1="47516" y1="76730" x2="63949" y2="27044"/>
                        <a14:foregroundMark x1="63949" y1="27044" x2="57452" y2="1887"/>
                        <a14:foregroundMark x1="67643" y1="34591" x2="54522" y2="34906"/>
                        <a14:foregroundMark x1="54522" y1="34906" x2="52739" y2="75943"/>
                        <a14:foregroundMark x1="52739" y1="75943" x2="68471" y2="58019"/>
                        <a14:foregroundMark x1="68471" y1="58019" x2="60828" y2="27830"/>
                        <a14:foregroundMark x1="60828" y1="27830" x2="59809" y2="27830"/>
                        <a14:foregroundMark x1="78217" y1="53931" x2="65924" y2="45755"/>
                        <a14:foregroundMark x1="65924" y1="45755" x2="61720" y2="65409"/>
                        <a14:foregroundMark x1="61720" y1="65409" x2="68344" y2="56761"/>
                        <a14:foregroundMark x1="68344" y1="56761" x2="68025" y2="56289"/>
                        <a14:foregroundMark x1="51592" y1="50943" x2="42866" y2="36950"/>
                        <a14:foregroundMark x1="42866" y1="36950" x2="27070" y2="31132"/>
                        <a14:foregroundMark x1="27070" y1="31132" x2="38917" y2="40566"/>
                        <a14:foregroundMark x1="38917" y1="40566" x2="38662" y2="31761"/>
                        <a14:foregroundMark x1="84140" y1="44497" x2="76624" y2="39780"/>
                        <a14:foregroundMark x1="76624" y1="39780" x2="70764" y2="53616"/>
                        <a14:foregroundMark x1="70764" y1="53616" x2="82357" y2="56918"/>
                        <a14:foregroundMark x1="82357" y1="56918" x2="83248" y2="45597"/>
                        <a14:foregroundMark x1="83248" y1="45597" x2="80828" y2="44340"/>
                        <a14:foregroundMark x1="98790" y1="51730" x2="92420" y2="52201"/>
                        <a14:foregroundMark x1="92420" y1="52201" x2="89809" y2="67767"/>
                        <a14:foregroundMark x1="89809" y1="67767" x2="96943" y2="60063"/>
                        <a14:foregroundMark x1="96943" y1="60063" x2="92166" y2="52830"/>
                        <a14:foregroundMark x1="97134" y1="71541" x2="89045" y2="70597"/>
                        <a14:foregroundMark x1="89045" y1="70597" x2="78344" y2="79717"/>
                        <a14:foregroundMark x1="78344" y1="79717" x2="89873" y2="96855"/>
                        <a14:foregroundMark x1="89873" y1="96855" x2="98726" y2="87421"/>
                        <a14:foregroundMark x1="98726" y1="87421" x2="93822" y2="76887"/>
                        <a14:foregroundMark x1="93822" y1="76887" x2="90892" y2="75157"/>
                        <a14:foregroundMark x1="98790" y1="87264" x2="92739" y2="85692"/>
                        <a14:foregroundMark x1="92739" y1="85692" x2="88408" y2="95283"/>
                        <a14:foregroundMark x1="88408" y1="95283" x2="93758" y2="94654"/>
                        <a14:foregroundMark x1="93758" y1="94654" x2="96561" y2="85849"/>
                        <a14:foregroundMark x1="96561" y1="85849" x2="95605" y2="85849"/>
                        <a14:foregroundMark x1="3503" y1="96226" x2="7962" y2="90252"/>
                        <a14:foregroundMark x1="7962" y1="90252" x2="10191" y2="23742"/>
                        <a14:foregroundMark x1="10191" y1="23742" x2="8280" y2="1101"/>
                        <a14:foregroundMark x1="4904" y1="97327" x2="637" y2="77516"/>
                        <a14:foregroundMark x1="637" y1="77516" x2="2866" y2="55818"/>
                        <a14:foregroundMark x1="2866" y1="55818" x2="1465" y2="37264"/>
                        <a14:foregroundMark x1="1465" y1="37264" x2="64" y2="30975"/>
                        <a14:foregroundMark x1="9045" y1="31761" x2="15096" y2="36006"/>
                        <a14:foregroundMark x1="15096" y1="36006" x2="27452" y2="63522"/>
                        <a14:foregroundMark x1="27452" y1="63522" x2="13885" y2="67296"/>
                        <a14:foregroundMark x1="13885" y1="67296" x2="11529" y2="28931"/>
                        <a14:foregroundMark x1="11529" y1="28931" x2="13312" y2="26258"/>
                        <a14:foregroundMark x1="45669" y1="26258" x2="40000" y2="31132"/>
                        <a14:foregroundMark x1="40000" y1="31132" x2="46306" y2="48899"/>
                        <a14:foregroundMark x1="46306" y1="48899" x2="44459" y2="25943"/>
                        <a14:foregroundMark x1="44459" y1="25943" x2="41592" y2="24214"/>
                        <a14:foregroundMark x1="78217" y1="11321" x2="81274" y2="20440"/>
                        <a14:foregroundMark x1="81274" y1="20440" x2="78917" y2="11635"/>
                        <a14:foregroundMark x1="78917" y1="11635" x2="76115" y2="10849"/>
                        <a14:foregroundMark x1="95605" y1="53459" x2="91146" y2="53616"/>
                        <a14:foregroundMark x1="91146" y1="53616" x2="85096" y2="61950"/>
                        <a14:foregroundMark x1="85096" y1="61950" x2="91911" y2="67296"/>
                        <a14:foregroundMark x1="91911" y1="67296" x2="95605" y2="55660"/>
                        <a14:foregroundMark x1="95605" y1="55660" x2="91720" y2="51415"/>
                        <a14:foregroundMark x1="94968" y1="45440" x2="89236" y2="43868"/>
                        <a14:foregroundMark x1="89236" y1="43868" x2="87197" y2="54245"/>
                        <a14:foregroundMark x1="87197" y1="54245" x2="90318" y2="45912"/>
                        <a14:foregroundMark x1="90318" y1="45912" x2="87962" y2="42925"/>
                        <a14:foregroundMark x1="73822" y1="25629" x2="99936" y2="28774"/>
                        <a14:foregroundMark x1="73567" y1="58648" x2="67070" y2="61321"/>
                        <a14:foregroundMark x1="67070" y1="61321" x2="60191" y2="80189"/>
                        <a14:foregroundMark x1="60191" y1="80189" x2="72293" y2="70597"/>
                        <a14:foregroundMark x1="72293" y1="70597" x2="66561" y2="59748"/>
                        <a14:foregroundMark x1="38025" y1="71541" x2="35860" y2="81761"/>
                        <a14:foregroundMark x1="35860" y1="81761" x2="41975" y2="99528"/>
                        <a14:foregroundMark x1="41975" y1="99528" x2="69809" y2="93082"/>
                        <a14:foregroundMark x1="69809" y1="93082" x2="77643" y2="77044"/>
                        <a14:foregroundMark x1="77643" y1="77044" x2="40764" y2="73428"/>
                        <a14:backgroundMark x1="80318" y1="1572" x2="81529" y2="16981"/>
                        <a14:backgroundMark x1="81529" y1="16981" x2="96369" y2="20912"/>
                        <a14:backgroundMark x1="96369" y1="20912" x2="98854" y2="4245"/>
                        <a14:backgroundMark x1="98854" y1="4245" x2="94076" y2="157"/>
                        <a14:backgroundMark x1="94076" y1="157" x2="80127" y2="629"/>
                      </a14:backgroundRemoval>
                    </a14:imgEffect>
                  </a14:imgLayer>
                </a14:imgProps>
              </a:ext>
            </a:extLst>
          </a:blip>
          <a:srcRect l="3"/>
          <a:stretch>
            <a:fillRect/>
          </a:stretch>
        </p:blipFill>
        <p:spPr>
          <a:xfrm>
            <a:off x="540327" y="1061028"/>
            <a:ext cx="11111722" cy="450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32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86D87-A2F4-8FB6-5D38-23E751938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Axis Aligned Bounding Boxes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313432-DD1C-FC2A-F03B-5C918681ED59}"/>
              </a:ext>
            </a:extLst>
          </p:cNvPr>
          <p:cNvSpPr/>
          <p:nvPr/>
        </p:nvSpPr>
        <p:spPr>
          <a:xfrm rot="1155099">
            <a:off x="2361460" y="3958177"/>
            <a:ext cx="1633491" cy="1482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B40083-0238-4EDA-9543-F397BB1B0684}"/>
              </a:ext>
            </a:extLst>
          </p:cNvPr>
          <p:cNvSpPr/>
          <p:nvPr/>
        </p:nvSpPr>
        <p:spPr>
          <a:xfrm rot="19499876">
            <a:off x="5092219" y="4032801"/>
            <a:ext cx="2572764" cy="148257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CAD131-FDD5-EAD0-FB17-DA7CA5D97463}"/>
              </a:ext>
            </a:extLst>
          </p:cNvPr>
          <p:cNvSpPr/>
          <p:nvPr/>
        </p:nvSpPr>
        <p:spPr>
          <a:xfrm>
            <a:off x="8563508" y="4186020"/>
            <a:ext cx="1165058" cy="1482571"/>
          </a:xfrm>
          <a:prstGeom prst="rect">
            <a:avLst/>
          </a:prstGeom>
          <a:noFill/>
          <a:ln w="38100">
            <a:solidFill>
              <a:srgbClr val="291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AF2B65-967E-6D7C-06E2-8A37672B1361}"/>
              </a:ext>
            </a:extLst>
          </p:cNvPr>
          <p:cNvSpPr txBox="1"/>
          <p:nvPr/>
        </p:nvSpPr>
        <p:spPr>
          <a:xfrm>
            <a:off x="1047565" y="1690688"/>
            <a:ext cx="9703293" cy="9541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yriad Condensed" panose="020B0800000000000000" pitchFamily="34" charset="0"/>
              </a:rPr>
              <a:t>Rectangles in a 2D plane can take any orientation as long as all 4 corners form 90-degree angles (def of rectangle)</a:t>
            </a:r>
          </a:p>
        </p:txBody>
      </p:sp>
    </p:spTree>
    <p:extLst>
      <p:ext uri="{BB962C8B-B14F-4D97-AF65-F5344CB8AC3E}">
        <p14:creationId xmlns:p14="http://schemas.microsoft.com/office/powerpoint/2010/main" val="1762855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274B4-F030-E520-4358-7ED8C6A2A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004E-5F0E-8E4F-EB14-E1FEF509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Axis Aligned Bounding Boxes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CADCD3-E5AB-1AF6-78B7-846522038181}"/>
              </a:ext>
            </a:extLst>
          </p:cNvPr>
          <p:cNvSpPr/>
          <p:nvPr/>
        </p:nvSpPr>
        <p:spPr>
          <a:xfrm rot="1155099">
            <a:off x="2361460" y="3958177"/>
            <a:ext cx="1633491" cy="1482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BEBCA4-1BD5-5128-769A-650856297803}"/>
              </a:ext>
            </a:extLst>
          </p:cNvPr>
          <p:cNvSpPr/>
          <p:nvPr/>
        </p:nvSpPr>
        <p:spPr>
          <a:xfrm rot="19499876">
            <a:off x="5092219" y="4032801"/>
            <a:ext cx="2572764" cy="148257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16DE91-B600-3315-27BB-2B58B108FA75}"/>
              </a:ext>
            </a:extLst>
          </p:cNvPr>
          <p:cNvSpPr/>
          <p:nvPr/>
        </p:nvSpPr>
        <p:spPr>
          <a:xfrm>
            <a:off x="8563508" y="4186020"/>
            <a:ext cx="1165058" cy="1482571"/>
          </a:xfrm>
          <a:prstGeom prst="rect">
            <a:avLst/>
          </a:prstGeom>
          <a:noFill/>
          <a:ln w="38100">
            <a:solidFill>
              <a:srgbClr val="291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39040B-4749-0569-BD1A-A2A0DD1EF7AC}"/>
              </a:ext>
            </a:extLst>
          </p:cNvPr>
          <p:cNvSpPr txBox="1"/>
          <p:nvPr/>
        </p:nvSpPr>
        <p:spPr>
          <a:xfrm>
            <a:off x="1047565" y="1690688"/>
            <a:ext cx="9703293" cy="9541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yriad Condensed" panose="020B0800000000000000" pitchFamily="34" charset="0"/>
              </a:rPr>
              <a:t>Detecting intersections of arbitrary rotated rectangles can be quite </a:t>
            </a:r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slow</a:t>
            </a:r>
            <a:r>
              <a:rPr lang="en-GB" sz="2800" dirty="0">
                <a:latin typeface="Myriad Condensed" panose="020B0800000000000000" pitchFamily="34" charset="0"/>
              </a:rPr>
              <a:t>, involving computing if all lines intersect</a:t>
            </a:r>
          </a:p>
        </p:txBody>
      </p:sp>
    </p:spTree>
    <p:extLst>
      <p:ext uri="{BB962C8B-B14F-4D97-AF65-F5344CB8AC3E}">
        <p14:creationId xmlns:p14="http://schemas.microsoft.com/office/powerpoint/2010/main" val="673541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C2F01-99E7-8B0B-569A-11DB5DECB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BECE-B81E-1790-F119-100B837C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Axis Aligned Bounding Boxes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2CD402-A3A8-C8F0-0391-139206975F4B}"/>
              </a:ext>
            </a:extLst>
          </p:cNvPr>
          <p:cNvSpPr/>
          <p:nvPr/>
        </p:nvSpPr>
        <p:spPr>
          <a:xfrm>
            <a:off x="1296140" y="4426026"/>
            <a:ext cx="1633491" cy="1482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AD634-E699-8B5E-DF30-490C8375C19C}"/>
              </a:ext>
            </a:extLst>
          </p:cNvPr>
          <p:cNvSpPr/>
          <p:nvPr/>
        </p:nvSpPr>
        <p:spPr>
          <a:xfrm>
            <a:off x="3698425" y="4426026"/>
            <a:ext cx="2572764" cy="148257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780B98-20C8-6349-AC47-85DF0C9C6DCE}"/>
              </a:ext>
            </a:extLst>
          </p:cNvPr>
          <p:cNvSpPr/>
          <p:nvPr/>
        </p:nvSpPr>
        <p:spPr>
          <a:xfrm>
            <a:off x="7444921" y="4426026"/>
            <a:ext cx="1165058" cy="1482571"/>
          </a:xfrm>
          <a:prstGeom prst="rect">
            <a:avLst/>
          </a:prstGeom>
          <a:noFill/>
          <a:ln w="38100">
            <a:solidFill>
              <a:srgbClr val="291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7D2FD-8F56-EE5E-C3B4-193ED6F466A8}"/>
              </a:ext>
            </a:extLst>
          </p:cNvPr>
          <p:cNvSpPr txBox="1"/>
          <p:nvPr/>
        </p:nvSpPr>
        <p:spPr>
          <a:xfrm>
            <a:off x="1047565" y="1690688"/>
            <a:ext cx="9703293" cy="196900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By aligning our rectangles with the x / y axis, we can trade arbitrary alignment for very fast intersection / collision checks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Axis Aligned Bounding Box = </a:t>
            </a:r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AABB</a:t>
            </a:r>
          </a:p>
        </p:txBody>
      </p:sp>
    </p:spTree>
    <p:extLst>
      <p:ext uri="{BB962C8B-B14F-4D97-AF65-F5344CB8AC3E}">
        <p14:creationId xmlns:p14="http://schemas.microsoft.com/office/powerpoint/2010/main" val="1533706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6CBCF-D2AC-6D79-1D67-88B436CA1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7200" dirty="0">
                <a:latin typeface="Myriad Condensed" panose="020B0800000000000000" pitchFamily="34" charset="0"/>
              </a:rPr>
              <a:t>Collision </a:t>
            </a:r>
            <a:r>
              <a:rPr lang="en-GB" sz="7200" dirty="0">
                <a:solidFill>
                  <a:srgbClr val="C00000"/>
                </a:solidFill>
                <a:latin typeface="Myriad Condensed" panose="020B0800000000000000" pitchFamily="34" charset="0"/>
              </a:rPr>
              <a:t>DETECTION</a:t>
            </a:r>
          </a:p>
        </p:txBody>
      </p:sp>
    </p:spTree>
    <p:extLst>
      <p:ext uri="{BB962C8B-B14F-4D97-AF65-F5344CB8AC3E}">
        <p14:creationId xmlns:p14="http://schemas.microsoft.com/office/powerpoint/2010/main" val="2710506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5768D-84AB-6356-0016-BCE47A7AE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73DF-AAC0-9C8D-7379-0CAA38684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Point Inside AABB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D6FEC4-98DD-8CA4-D1ED-F6BDE9A73CA1}"/>
              </a:ext>
            </a:extLst>
          </p:cNvPr>
          <p:cNvSpPr/>
          <p:nvPr/>
        </p:nvSpPr>
        <p:spPr>
          <a:xfrm>
            <a:off x="2366775" y="3597635"/>
            <a:ext cx="2572764" cy="148257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3BF6B-CBA5-B267-F033-3E143F6985E7}"/>
              </a:ext>
            </a:extLst>
          </p:cNvPr>
          <p:cNvSpPr txBox="1"/>
          <p:nvPr/>
        </p:nvSpPr>
        <p:spPr>
          <a:xfrm>
            <a:off x="1047565" y="1690688"/>
            <a:ext cx="9703293" cy="95410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The simplest collision check we can do is to see if a single point is inside an AABB</a:t>
            </a:r>
            <a:endParaRPr lang="en-GB" sz="2800" dirty="0">
              <a:solidFill>
                <a:srgbClr val="C00000"/>
              </a:solidFill>
              <a:latin typeface="Myriad Condensed" panose="020B0800000000000000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5A67B-402C-0CF0-FE21-BBBDCAE0FFB9}"/>
              </a:ext>
            </a:extLst>
          </p:cNvPr>
          <p:cNvSpPr txBox="1"/>
          <p:nvPr/>
        </p:nvSpPr>
        <p:spPr>
          <a:xfrm>
            <a:off x="1910917" y="2967977"/>
            <a:ext cx="1036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X1, Y1 </a:t>
            </a:r>
            <a:endParaRPr lang="en-GB" sz="3200" dirty="0"/>
          </a:p>
        </p:txBody>
      </p:sp>
      <p:sp>
        <p:nvSpPr>
          <p:cNvPr id="9" name="Flowchart: Or 8">
            <a:extLst>
              <a:ext uri="{FF2B5EF4-FFF2-40B4-BE49-F238E27FC236}">
                <a16:creationId xmlns:a16="http://schemas.microsoft.com/office/drawing/2014/main" id="{448CC19B-4025-FC66-59EC-975941BC0F79}"/>
              </a:ext>
            </a:extLst>
          </p:cNvPr>
          <p:cNvSpPr/>
          <p:nvPr/>
        </p:nvSpPr>
        <p:spPr>
          <a:xfrm>
            <a:off x="6096000" y="3974427"/>
            <a:ext cx="384699" cy="384509"/>
          </a:xfrm>
          <a:prstGeom prst="flowChar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5912B3-0251-F24D-EE23-198ACB0BE563}"/>
              </a:ext>
            </a:extLst>
          </p:cNvPr>
          <p:cNvSpPr txBox="1"/>
          <p:nvPr/>
        </p:nvSpPr>
        <p:spPr>
          <a:xfrm>
            <a:off x="6600691" y="3874293"/>
            <a:ext cx="1912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Px1, Py1 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6686C7-1D65-BD68-23CA-6EAFCB0898A3}"/>
              </a:ext>
            </a:extLst>
          </p:cNvPr>
          <p:cNvSpPr txBox="1"/>
          <p:nvPr/>
        </p:nvSpPr>
        <p:spPr>
          <a:xfrm>
            <a:off x="4733645" y="5010664"/>
            <a:ext cx="1036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X2, Y2 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717122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1D02-893C-8114-2F7C-6E5913CB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5EFA-248E-168D-3283-4EC0FDBC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Point Inside AABB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759268-E272-42D0-D870-2F5B28FA58EB}"/>
              </a:ext>
            </a:extLst>
          </p:cNvPr>
          <p:cNvSpPr/>
          <p:nvPr/>
        </p:nvSpPr>
        <p:spPr>
          <a:xfrm>
            <a:off x="1425742" y="2452416"/>
            <a:ext cx="3519120" cy="234152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0AD73-61E0-DE38-6469-FE5C0FA06709}"/>
              </a:ext>
            </a:extLst>
          </p:cNvPr>
          <p:cNvSpPr txBox="1"/>
          <p:nvPr/>
        </p:nvSpPr>
        <p:spPr>
          <a:xfrm>
            <a:off x="7066625" y="1690688"/>
            <a:ext cx="4287175" cy="267765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yriad Condensed" panose="020B0800000000000000" pitchFamily="34" charset="0"/>
              </a:rPr>
              <a:t>P inside if</a:t>
            </a:r>
          </a:p>
          <a:p>
            <a:endParaRPr lang="en-GB" sz="2800" dirty="0">
              <a:solidFill>
                <a:srgbClr val="C00000"/>
              </a:solidFill>
              <a:latin typeface="Myriad Condensed" panose="020B0800000000000000" pitchFamily="34" charset="0"/>
            </a:endParaRPr>
          </a:p>
          <a:p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Px &gt; X1</a:t>
            </a:r>
          </a:p>
          <a:p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Px &lt; X2</a:t>
            </a:r>
          </a:p>
          <a:p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Py &gt; Y1 </a:t>
            </a:r>
          </a:p>
          <a:p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Py &lt; Y2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30636-7CAC-74A9-7DCA-5B506A26E1E9}"/>
              </a:ext>
            </a:extLst>
          </p:cNvPr>
          <p:cNvSpPr txBox="1"/>
          <p:nvPr/>
        </p:nvSpPr>
        <p:spPr>
          <a:xfrm>
            <a:off x="969884" y="1822758"/>
            <a:ext cx="1036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X1, Y1 </a:t>
            </a:r>
            <a:endParaRPr lang="en-GB" sz="3200" dirty="0"/>
          </a:p>
        </p:txBody>
      </p:sp>
      <p:sp>
        <p:nvSpPr>
          <p:cNvPr id="9" name="Flowchart: Or 8">
            <a:extLst>
              <a:ext uri="{FF2B5EF4-FFF2-40B4-BE49-F238E27FC236}">
                <a16:creationId xmlns:a16="http://schemas.microsoft.com/office/drawing/2014/main" id="{1381F15B-DD05-141E-6972-02801A508C99}"/>
              </a:ext>
            </a:extLst>
          </p:cNvPr>
          <p:cNvSpPr/>
          <p:nvPr/>
        </p:nvSpPr>
        <p:spPr>
          <a:xfrm>
            <a:off x="2527177" y="3361868"/>
            <a:ext cx="384699" cy="384509"/>
          </a:xfrm>
          <a:prstGeom prst="flowChar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CDFE4-0BE1-F717-A312-64680A9C96C9}"/>
              </a:ext>
            </a:extLst>
          </p:cNvPr>
          <p:cNvSpPr txBox="1"/>
          <p:nvPr/>
        </p:nvSpPr>
        <p:spPr>
          <a:xfrm>
            <a:off x="3031868" y="3261734"/>
            <a:ext cx="1912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Px, Py 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C7BC33-C0D0-ECA6-4952-8F13B853338D}"/>
              </a:ext>
            </a:extLst>
          </p:cNvPr>
          <p:cNvSpPr txBox="1"/>
          <p:nvPr/>
        </p:nvSpPr>
        <p:spPr>
          <a:xfrm>
            <a:off x="4596556" y="4838825"/>
            <a:ext cx="1036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X2, Y2 </a:t>
            </a: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BF4BB-FED6-7467-5439-63FF6110A842}"/>
              </a:ext>
            </a:extLst>
          </p:cNvPr>
          <p:cNvSpPr txBox="1"/>
          <p:nvPr/>
        </p:nvSpPr>
        <p:spPr>
          <a:xfrm>
            <a:off x="117772" y="6118689"/>
            <a:ext cx="26017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(0, 0) top-left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98502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1E5CB-24EC-0740-8F53-6186C79B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AF0DD-0A16-2089-932C-75B1344D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Point Inside AABB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AA1BB7-8C1A-1D43-5AC5-DA83F58FDFE5}"/>
              </a:ext>
            </a:extLst>
          </p:cNvPr>
          <p:cNvSpPr/>
          <p:nvPr/>
        </p:nvSpPr>
        <p:spPr>
          <a:xfrm>
            <a:off x="1425742" y="2452416"/>
            <a:ext cx="3519120" cy="234152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53F05-CA02-0804-6CA5-E78F46BC5950}"/>
              </a:ext>
            </a:extLst>
          </p:cNvPr>
          <p:cNvSpPr txBox="1"/>
          <p:nvPr/>
        </p:nvSpPr>
        <p:spPr>
          <a:xfrm>
            <a:off x="7075503" y="1690688"/>
            <a:ext cx="4287175" cy="310854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yriad Condensed" panose="020B0800000000000000" pitchFamily="34" charset="0"/>
              </a:rPr>
              <a:t>P inside if</a:t>
            </a:r>
          </a:p>
          <a:p>
            <a:endParaRPr lang="en-GB" sz="2800" dirty="0">
              <a:solidFill>
                <a:srgbClr val="C00000"/>
              </a:solidFill>
              <a:latin typeface="Myriad Condensed" panose="020B0800000000000000" pitchFamily="34" charset="0"/>
            </a:endParaRPr>
          </a:p>
          <a:p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Px &gt; X</a:t>
            </a:r>
          </a:p>
          <a:p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Px &lt; X + W</a:t>
            </a:r>
          </a:p>
          <a:p>
            <a:endParaRPr lang="en-GB" sz="2800" dirty="0">
              <a:solidFill>
                <a:srgbClr val="C00000"/>
              </a:solidFill>
              <a:latin typeface="Myriad Condensed" panose="020B0800000000000000" pitchFamily="34" charset="0"/>
            </a:endParaRPr>
          </a:p>
          <a:p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Py &gt; Y</a:t>
            </a:r>
          </a:p>
          <a:p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Py &lt; Y + 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AE162-B50B-40F6-29FE-ABCBBD9B6A98}"/>
              </a:ext>
            </a:extLst>
          </p:cNvPr>
          <p:cNvSpPr txBox="1"/>
          <p:nvPr/>
        </p:nvSpPr>
        <p:spPr>
          <a:xfrm>
            <a:off x="969884" y="1822758"/>
            <a:ext cx="1036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X, Y</a:t>
            </a:r>
            <a:endParaRPr lang="en-GB" sz="3200" dirty="0"/>
          </a:p>
        </p:txBody>
      </p:sp>
      <p:sp>
        <p:nvSpPr>
          <p:cNvPr id="9" name="Flowchart: Or 8">
            <a:extLst>
              <a:ext uri="{FF2B5EF4-FFF2-40B4-BE49-F238E27FC236}">
                <a16:creationId xmlns:a16="http://schemas.microsoft.com/office/drawing/2014/main" id="{BC18A196-F9E6-B602-405C-89EE530984F6}"/>
              </a:ext>
            </a:extLst>
          </p:cNvPr>
          <p:cNvSpPr/>
          <p:nvPr/>
        </p:nvSpPr>
        <p:spPr>
          <a:xfrm>
            <a:off x="2527177" y="3361868"/>
            <a:ext cx="384699" cy="384509"/>
          </a:xfrm>
          <a:prstGeom prst="flowChar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A439F3-4F2E-4613-9DFF-873278800DB3}"/>
              </a:ext>
            </a:extLst>
          </p:cNvPr>
          <p:cNvSpPr txBox="1"/>
          <p:nvPr/>
        </p:nvSpPr>
        <p:spPr>
          <a:xfrm>
            <a:off x="3031868" y="3261734"/>
            <a:ext cx="1912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Px, Py 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302EF3-396F-BCAF-3C23-4E9130B9C068}"/>
              </a:ext>
            </a:extLst>
          </p:cNvPr>
          <p:cNvSpPr txBox="1"/>
          <p:nvPr/>
        </p:nvSpPr>
        <p:spPr>
          <a:xfrm>
            <a:off x="5064854" y="3261733"/>
            <a:ext cx="1036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H</a:t>
            </a: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77B1E-2C0C-78A7-13A4-4459F108D366}"/>
              </a:ext>
            </a:extLst>
          </p:cNvPr>
          <p:cNvSpPr txBox="1"/>
          <p:nvPr/>
        </p:nvSpPr>
        <p:spPr>
          <a:xfrm>
            <a:off x="117772" y="6118689"/>
            <a:ext cx="26017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(0, 0) top-left</a:t>
            </a: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E1FD3-18F8-333D-E900-800F7B220CC9}"/>
              </a:ext>
            </a:extLst>
          </p:cNvPr>
          <p:cNvSpPr txBox="1"/>
          <p:nvPr/>
        </p:nvSpPr>
        <p:spPr>
          <a:xfrm>
            <a:off x="2823099" y="1705303"/>
            <a:ext cx="1036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W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733027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C69EC-2EB7-A271-84A9-F06F97926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ACF8E-6696-D645-7A66-37DD2B22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AABB Intersection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A3ABB5-80F9-EFA2-A42D-6E62D0C9E82C}"/>
              </a:ext>
            </a:extLst>
          </p:cNvPr>
          <p:cNvSpPr/>
          <p:nvPr/>
        </p:nvSpPr>
        <p:spPr>
          <a:xfrm>
            <a:off x="2863925" y="2824321"/>
            <a:ext cx="3519120" cy="234152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4FA97-8A2E-51F7-1606-8978105B5F34}"/>
              </a:ext>
            </a:extLst>
          </p:cNvPr>
          <p:cNvSpPr txBox="1"/>
          <p:nvPr/>
        </p:nvSpPr>
        <p:spPr>
          <a:xfrm>
            <a:off x="1056444" y="1594499"/>
            <a:ext cx="7759082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yriad Condensed" panose="020B0800000000000000" pitchFamily="34" charset="0"/>
              </a:rPr>
              <a:t>Next step is to determine if two AABB intersect anywhere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4FA67E-22BD-D106-5CDC-55CF93AF2EC7}"/>
              </a:ext>
            </a:extLst>
          </p:cNvPr>
          <p:cNvSpPr/>
          <p:nvPr/>
        </p:nvSpPr>
        <p:spPr>
          <a:xfrm>
            <a:off x="5397623" y="3273470"/>
            <a:ext cx="3519120" cy="23415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155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D1B8-E7BB-36A7-3855-D8C95F735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BA948-86ED-C63A-36D3-E605D54E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AABB Horizontal Overlap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B5B686-21C1-ECD0-9158-BEC10B2F5195}"/>
              </a:ext>
            </a:extLst>
          </p:cNvPr>
          <p:cNvSpPr/>
          <p:nvPr/>
        </p:nvSpPr>
        <p:spPr>
          <a:xfrm>
            <a:off x="1239312" y="3214939"/>
            <a:ext cx="3519120" cy="234152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A52FB-7444-0E17-7C39-7F910E8BC00B}"/>
              </a:ext>
            </a:extLst>
          </p:cNvPr>
          <p:cNvSpPr txBox="1"/>
          <p:nvPr/>
        </p:nvSpPr>
        <p:spPr>
          <a:xfrm>
            <a:off x="1056444" y="1594499"/>
            <a:ext cx="9383696" cy="95410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yriad Condensed" panose="020B0800000000000000" pitchFamily="34" charset="0"/>
              </a:rPr>
              <a:t>Horizontal overlap occurs if the top of each box is higher than the bottom of the other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042B7F-3C24-B0B3-7C9C-FCADF0C9EE24}"/>
              </a:ext>
            </a:extLst>
          </p:cNvPr>
          <p:cNvSpPr/>
          <p:nvPr/>
        </p:nvSpPr>
        <p:spPr>
          <a:xfrm>
            <a:off x="5674010" y="3637454"/>
            <a:ext cx="3519120" cy="23415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0B0CFF1-81CF-302B-9722-FC9B0A9C55CB}"/>
              </a:ext>
            </a:extLst>
          </p:cNvPr>
          <p:cNvCxnSpPr>
            <a:stCxn id="5" idx="1"/>
          </p:cNvCxnSpPr>
          <p:nvPr/>
        </p:nvCxnSpPr>
        <p:spPr>
          <a:xfrm flipV="1">
            <a:off x="1239312" y="4367814"/>
            <a:ext cx="7953818" cy="17888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71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AE921-D04D-CFFF-723D-D279D41C2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CD4E2A-4DA5-01A2-700D-C3B2F442EF8E}"/>
              </a:ext>
            </a:extLst>
          </p:cNvPr>
          <p:cNvSpPr/>
          <p:nvPr/>
        </p:nvSpPr>
        <p:spPr>
          <a:xfrm>
            <a:off x="1159413" y="915753"/>
            <a:ext cx="3519120" cy="234152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33EFF4-4484-3881-2DD0-476E32AA778F}"/>
              </a:ext>
            </a:extLst>
          </p:cNvPr>
          <p:cNvSpPr/>
          <p:nvPr/>
        </p:nvSpPr>
        <p:spPr>
          <a:xfrm>
            <a:off x="5887074" y="1826410"/>
            <a:ext cx="3519120" cy="23415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479B1C-5118-3496-1F39-3D286EF56416}"/>
              </a:ext>
            </a:extLst>
          </p:cNvPr>
          <p:cNvSpPr txBox="1"/>
          <p:nvPr/>
        </p:nvSpPr>
        <p:spPr>
          <a:xfrm>
            <a:off x="5398802" y="1358283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X2, Y2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F51A80-9C14-6442-0D98-2C9802A7E160}"/>
              </a:ext>
            </a:extLst>
          </p:cNvPr>
          <p:cNvSpPr txBox="1"/>
          <p:nvPr/>
        </p:nvSpPr>
        <p:spPr>
          <a:xfrm>
            <a:off x="9406194" y="2812507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F62BE7-A8C5-D198-97EC-93DB08AF44E0}"/>
              </a:ext>
            </a:extLst>
          </p:cNvPr>
          <p:cNvSpPr txBox="1"/>
          <p:nvPr/>
        </p:nvSpPr>
        <p:spPr>
          <a:xfrm>
            <a:off x="7481219" y="4167936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83D9B7-562E-BC2D-722D-C8E2F3DACCBE}"/>
              </a:ext>
            </a:extLst>
          </p:cNvPr>
          <p:cNvSpPr txBox="1"/>
          <p:nvPr/>
        </p:nvSpPr>
        <p:spPr>
          <a:xfrm>
            <a:off x="748383" y="508520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X1, Y1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C061E8-3AC4-254A-4C17-41402DEF720F}"/>
              </a:ext>
            </a:extLst>
          </p:cNvPr>
          <p:cNvSpPr txBox="1"/>
          <p:nvPr/>
        </p:nvSpPr>
        <p:spPr>
          <a:xfrm>
            <a:off x="2430701" y="508520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13D8E7-A66D-B455-6068-BF145BA48248}"/>
              </a:ext>
            </a:extLst>
          </p:cNvPr>
          <p:cNvSpPr txBox="1"/>
          <p:nvPr/>
        </p:nvSpPr>
        <p:spPr>
          <a:xfrm>
            <a:off x="603380" y="1901850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FCE48C-11CF-5ABB-8D9C-74096E0C87CF}"/>
              </a:ext>
            </a:extLst>
          </p:cNvPr>
          <p:cNvSpPr txBox="1"/>
          <p:nvPr/>
        </p:nvSpPr>
        <p:spPr>
          <a:xfrm>
            <a:off x="1159413" y="3917272"/>
            <a:ext cx="3551369" cy="181588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yriad Condensed" panose="020B0800000000000000" pitchFamily="34" charset="0"/>
              </a:rPr>
              <a:t>Horizontal Overlap if</a:t>
            </a:r>
          </a:p>
          <a:p>
            <a:endParaRPr lang="en-GB" sz="2800" dirty="0">
              <a:solidFill>
                <a:srgbClr val="C00000"/>
              </a:solidFill>
              <a:latin typeface="Myriad Condensed" panose="020B0800000000000000" pitchFamily="34" charset="0"/>
            </a:endParaRPr>
          </a:p>
          <a:p>
            <a:pPr algn="ctr"/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Y1 &lt; Y2 + H2</a:t>
            </a:r>
          </a:p>
          <a:p>
            <a:pPr algn="ctr"/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Y2 &lt; Y1 + H1</a:t>
            </a:r>
          </a:p>
        </p:txBody>
      </p:sp>
    </p:spTree>
    <p:extLst>
      <p:ext uri="{BB962C8B-B14F-4D97-AF65-F5344CB8AC3E}">
        <p14:creationId xmlns:p14="http://schemas.microsoft.com/office/powerpoint/2010/main" val="1975540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1B42-AD4F-84A6-F76F-C34EAB2AB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AF70E-B385-0E6B-DC54-909A6809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AABB Vertical Overlap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45D41-EFE0-64D3-4928-81F3ED344A30}"/>
              </a:ext>
            </a:extLst>
          </p:cNvPr>
          <p:cNvSpPr/>
          <p:nvPr/>
        </p:nvSpPr>
        <p:spPr>
          <a:xfrm>
            <a:off x="2541083" y="3132649"/>
            <a:ext cx="4434698" cy="81552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F1D7D-6D57-D22B-445D-4473AB354A68}"/>
              </a:ext>
            </a:extLst>
          </p:cNvPr>
          <p:cNvSpPr txBox="1"/>
          <p:nvPr/>
        </p:nvSpPr>
        <p:spPr>
          <a:xfrm>
            <a:off x="1056444" y="1594499"/>
            <a:ext cx="9383696" cy="95410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yriad Condensed" panose="020B0800000000000000" pitchFamily="34" charset="0"/>
              </a:rPr>
              <a:t>Vertical overlap occurs if the left of each box is less than the right of the other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B66F88-B882-9B3C-846B-3BEF64DA9151}"/>
              </a:ext>
            </a:extLst>
          </p:cNvPr>
          <p:cNvSpPr/>
          <p:nvPr/>
        </p:nvSpPr>
        <p:spPr>
          <a:xfrm>
            <a:off x="4758432" y="4209349"/>
            <a:ext cx="3519120" cy="95410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C79025-004B-A048-26EF-13C0AD03CA2F}"/>
              </a:ext>
            </a:extLst>
          </p:cNvPr>
          <p:cNvCxnSpPr>
            <a:stCxn id="6" idx="2"/>
          </p:cNvCxnSpPr>
          <p:nvPr/>
        </p:nvCxnSpPr>
        <p:spPr>
          <a:xfrm flipV="1">
            <a:off x="6517992" y="2849732"/>
            <a:ext cx="0" cy="2313724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830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9BFA6-5488-EEFC-55DB-C166D1DE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AEE2FE-0B81-B6CE-3469-D8C6B24B996F}"/>
              </a:ext>
            </a:extLst>
          </p:cNvPr>
          <p:cNvSpPr/>
          <p:nvPr/>
        </p:nvSpPr>
        <p:spPr>
          <a:xfrm>
            <a:off x="4946931" y="1898653"/>
            <a:ext cx="4434698" cy="81552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D0FB73-D802-9EB3-A578-5BD34573D7A8}"/>
              </a:ext>
            </a:extLst>
          </p:cNvPr>
          <p:cNvSpPr/>
          <p:nvPr/>
        </p:nvSpPr>
        <p:spPr>
          <a:xfrm>
            <a:off x="7164280" y="2975353"/>
            <a:ext cx="3519120" cy="95410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0F73D9-7724-7F89-64FD-207EB999B6B3}"/>
              </a:ext>
            </a:extLst>
          </p:cNvPr>
          <p:cNvCxnSpPr>
            <a:stCxn id="6" idx="2"/>
          </p:cNvCxnSpPr>
          <p:nvPr/>
        </p:nvCxnSpPr>
        <p:spPr>
          <a:xfrm flipV="1">
            <a:off x="8923840" y="1615736"/>
            <a:ext cx="0" cy="2313724"/>
          </a:xfrm>
          <a:prstGeom prst="line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FBA3F74-A800-2F4E-A647-A5FF1D85A649}"/>
              </a:ext>
            </a:extLst>
          </p:cNvPr>
          <p:cNvSpPr txBox="1"/>
          <p:nvPr/>
        </p:nvSpPr>
        <p:spPr>
          <a:xfrm>
            <a:off x="4565780" y="1268144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X1, Y1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FE4487-4243-52E1-F70F-17B5F7ED540C}"/>
              </a:ext>
            </a:extLst>
          </p:cNvPr>
          <p:cNvSpPr txBox="1"/>
          <p:nvPr/>
        </p:nvSpPr>
        <p:spPr>
          <a:xfrm>
            <a:off x="6187737" y="2790687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X2, Y2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ABB1D7-3ACB-63BF-4F3E-BFF6CFE541EB}"/>
              </a:ext>
            </a:extLst>
          </p:cNvPr>
          <p:cNvSpPr txBox="1"/>
          <p:nvPr/>
        </p:nvSpPr>
        <p:spPr>
          <a:xfrm>
            <a:off x="6676008" y="1491066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7210B3-2E79-A33B-EB7E-C5649652FF74}"/>
              </a:ext>
            </a:extLst>
          </p:cNvPr>
          <p:cNvSpPr txBox="1"/>
          <p:nvPr/>
        </p:nvSpPr>
        <p:spPr>
          <a:xfrm>
            <a:off x="8683841" y="4027711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3DC0BB-2A80-60EA-527F-221916B6EAB5}"/>
              </a:ext>
            </a:extLst>
          </p:cNvPr>
          <p:cNvSpPr txBox="1"/>
          <p:nvPr/>
        </p:nvSpPr>
        <p:spPr>
          <a:xfrm>
            <a:off x="9706857" y="2121748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4FD37A-94C6-4B8B-F628-948A8751150C}"/>
              </a:ext>
            </a:extLst>
          </p:cNvPr>
          <p:cNvSpPr txBox="1"/>
          <p:nvPr/>
        </p:nvSpPr>
        <p:spPr>
          <a:xfrm>
            <a:off x="10805604" y="3267740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F59A09-0A49-CDBC-6D3D-B2D3FB51EEB8}"/>
              </a:ext>
            </a:extLst>
          </p:cNvPr>
          <p:cNvSpPr txBox="1"/>
          <p:nvPr/>
        </p:nvSpPr>
        <p:spPr>
          <a:xfrm>
            <a:off x="647913" y="2581161"/>
            <a:ext cx="3551369" cy="181588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yriad Condensed" panose="020B0800000000000000" pitchFamily="34" charset="0"/>
              </a:rPr>
              <a:t>Vertical Overlap if</a:t>
            </a:r>
          </a:p>
          <a:p>
            <a:endParaRPr lang="en-GB" sz="2800" dirty="0">
              <a:solidFill>
                <a:srgbClr val="C00000"/>
              </a:solidFill>
              <a:latin typeface="Myriad Condensed" panose="020B0800000000000000" pitchFamily="34" charset="0"/>
            </a:endParaRPr>
          </a:p>
          <a:p>
            <a:pPr algn="ctr"/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X1 &lt; X2 + W2</a:t>
            </a:r>
          </a:p>
          <a:p>
            <a:pPr algn="ctr"/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X2 &lt; X1 + W1</a:t>
            </a:r>
          </a:p>
        </p:txBody>
      </p:sp>
    </p:spTree>
    <p:extLst>
      <p:ext uri="{BB962C8B-B14F-4D97-AF65-F5344CB8AC3E}">
        <p14:creationId xmlns:p14="http://schemas.microsoft.com/office/powerpoint/2010/main" val="22393426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5F7A-5038-3275-3E2B-8F9119428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1DE44D-0A9C-0766-39A7-E06C2B8ECC49}"/>
              </a:ext>
            </a:extLst>
          </p:cNvPr>
          <p:cNvSpPr/>
          <p:nvPr/>
        </p:nvSpPr>
        <p:spPr>
          <a:xfrm>
            <a:off x="4946931" y="1898653"/>
            <a:ext cx="4434698" cy="1448229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B1F0BA-C553-1D89-09AE-4BF34BBFC2B8}"/>
              </a:ext>
            </a:extLst>
          </p:cNvPr>
          <p:cNvSpPr/>
          <p:nvPr/>
        </p:nvSpPr>
        <p:spPr>
          <a:xfrm>
            <a:off x="7164280" y="2716567"/>
            <a:ext cx="3519120" cy="121289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CF28D-3A77-EBCF-90C2-1A307C43BAF2}"/>
              </a:ext>
            </a:extLst>
          </p:cNvPr>
          <p:cNvSpPr txBox="1"/>
          <p:nvPr/>
        </p:nvSpPr>
        <p:spPr>
          <a:xfrm>
            <a:off x="4565780" y="1268144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X1, Y1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F5FCE3-CBE5-9B80-EC1E-B2E5B9B1D22E}"/>
              </a:ext>
            </a:extLst>
          </p:cNvPr>
          <p:cNvSpPr txBox="1"/>
          <p:nvPr/>
        </p:nvSpPr>
        <p:spPr>
          <a:xfrm>
            <a:off x="6329780" y="2308980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X2, Y2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C71EE-5AD7-EBEE-203B-41BF920989CB}"/>
              </a:ext>
            </a:extLst>
          </p:cNvPr>
          <p:cNvSpPr txBox="1"/>
          <p:nvPr/>
        </p:nvSpPr>
        <p:spPr>
          <a:xfrm>
            <a:off x="6676008" y="1491066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912720-6A53-838E-19A8-ADF050431399}"/>
              </a:ext>
            </a:extLst>
          </p:cNvPr>
          <p:cNvSpPr txBox="1"/>
          <p:nvPr/>
        </p:nvSpPr>
        <p:spPr>
          <a:xfrm>
            <a:off x="8683841" y="4027711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D9FF0C-F5BB-D0D1-513B-BC45ACBC4B74}"/>
              </a:ext>
            </a:extLst>
          </p:cNvPr>
          <p:cNvSpPr txBox="1"/>
          <p:nvPr/>
        </p:nvSpPr>
        <p:spPr>
          <a:xfrm>
            <a:off x="9706857" y="2121748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CE6FC0-5075-4379-2295-AEFF4DBE8CA4}"/>
              </a:ext>
            </a:extLst>
          </p:cNvPr>
          <p:cNvSpPr txBox="1"/>
          <p:nvPr/>
        </p:nvSpPr>
        <p:spPr>
          <a:xfrm>
            <a:off x="10805604" y="3267740"/>
            <a:ext cx="976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B19FA1-033E-80D9-E93C-4EDCAFFF8C98}"/>
              </a:ext>
            </a:extLst>
          </p:cNvPr>
          <p:cNvSpPr txBox="1"/>
          <p:nvPr/>
        </p:nvSpPr>
        <p:spPr>
          <a:xfrm>
            <a:off x="647913" y="2581161"/>
            <a:ext cx="3551369" cy="26776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yriad Condensed" panose="020B0800000000000000" pitchFamily="34" charset="0"/>
              </a:rPr>
              <a:t>AABB Intersect if</a:t>
            </a:r>
          </a:p>
          <a:p>
            <a:endParaRPr lang="en-GB" sz="2800" dirty="0">
              <a:solidFill>
                <a:srgbClr val="C00000"/>
              </a:solidFill>
              <a:latin typeface="Myriad Condensed" panose="020B0800000000000000" pitchFamily="34" charset="0"/>
            </a:endParaRPr>
          </a:p>
          <a:p>
            <a:pPr algn="ctr"/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X1 &lt; X2 + W2</a:t>
            </a:r>
          </a:p>
          <a:p>
            <a:pPr algn="ctr"/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X2 &lt; X1 + W1</a:t>
            </a:r>
          </a:p>
          <a:p>
            <a:pPr algn="ctr"/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Y1 &lt; Y2 + H2</a:t>
            </a:r>
          </a:p>
          <a:p>
            <a:pPr algn="ctr"/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Y2 &lt; Y1 + H1</a:t>
            </a:r>
          </a:p>
        </p:txBody>
      </p:sp>
    </p:spTree>
    <p:extLst>
      <p:ext uri="{BB962C8B-B14F-4D97-AF65-F5344CB8AC3E}">
        <p14:creationId xmlns:p14="http://schemas.microsoft.com/office/powerpoint/2010/main" val="2110088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E19A3-CDCC-FFB5-5295-0C35D643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A507-2F6F-6EE9-6169-25EA1991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Myriad Condensed" panose="020B0800000000000000" pitchFamily="34" charset="0"/>
              </a:rPr>
              <a:t>Centered</a:t>
            </a:r>
            <a:r>
              <a:rPr lang="en-GB" dirty="0">
                <a:latin typeface="Myriad Condensed" panose="020B0800000000000000" pitchFamily="34" charset="0"/>
              </a:rPr>
              <a:t> AABB Intersection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ADC356-1336-B034-4DC6-43123522A692}"/>
              </a:ext>
            </a:extLst>
          </p:cNvPr>
          <p:cNvSpPr/>
          <p:nvPr/>
        </p:nvSpPr>
        <p:spPr>
          <a:xfrm>
            <a:off x="2541083" y="3132649"/>
            <a:ext cx="4259212" cy="117674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9EA07-9DEE-0CE8-C171-F8E8E81AA0B8}"/>
              </a:ext>
            </a:extLst>
          </p:cNvPr>
          <p:cNvSpPr txBox="1"/>
          <p:nvPr/>
        </p:nvSpPr>
        <p:spPr>
          <a:xfrm>
            <a:off x="1056444" y="1594499"/>
            <a:ext cx="9383696" cy="95410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yriad Condensed" panose="020B0800000000000000" pitchFamily="34" charset="0"/>
              </a:rPr>
              <a:t>Our game engine uses the CENTER of the entity as the position for the AABB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37CA83-CD9C-C908-CAD9-8922CFFF58D3}"/>
              </a:ext>
            </a:extLst>
          </p:cNvPr>
          <p:cNvSpPr/>
          <p:nvPr/>
        </p:nvSpPr>
        <p:spPr>
          <a:xfrm>
            <a:off x="5353234" y="3777980"/>
            <a:ext cx="2924317" cy="17996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510FFA-FEFC-B675-356B-91F4397E9E2C}"/>
              </a:ext>
            </a:extLst>
          </p:cNvPr>
          <p:cNvSpPr txBox="1"/>
          <p:nvPr/>
        </p:nvSpPr>
        <p:spPr>
          <a:xfrm>
            <a:off x="4354498" y="3632148"/>
            <a:ext cx="80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X1, Y1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57AFA2-CB74-E42C-98EA-CA5B7415810C}"/>
              </a:ext>
            </a:extLst>
          </p:cNvPr>
          <p:cNvSpPr txBox="1"/>
          <p:nvPr/>
        </p:nvSpPr>
        <p:spPr>
          <a:xfrm>
            <a:off x="6514143" y="4524106"/>
            <a:ext cx="80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X1, Y1</a:t>
            </a:r>
          </a:p>
        </p:txBody>
      </p:sp>
    </p:spTree>
    <p:extLst>
      <p:ext uri="{BB962C8B-B14F-4D97-AF65-F5344CB8AC3E}">
        <p14:creationId xmlns:p14="http://schemas.microsoft.com/office/powerpoint/2010/main" val="42545044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F93EB-F4F6-107E-4566-3F9BDFE6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6652C-EF7B-7831-B1A8-89C39F2FC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Myriad Condensed" panose="020B0800000000000000" pitchFamily="34" charset="0"/>
              </a:rPr>
              <a:t>Centered</a:t>
            </a:r>
            <a:r>
              <a:rPr lang="en-GB" dirty="0">
                <a:latin typeface="Myriad Condensed" panose="020B0800000000000000" pitchFamily="34" charset="0"/>
              </a:rPr>
              <a:t> AABB Intersection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D86B38-220C-A8FD-C0DB-C1FA53C7DFCE}"/>
              </a:ext>
            </a:extLst>
          </p:cNvPr>
          <p:cNvSpPr/>
          <p:nvPr/>
        </p:nvSpPr>
        <p:spPr>
          <a:xfrm>
            <a:off x="2541083" y="3132649"/>
            <a:ext cx="4259212" cy="1176746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936B54-35CD-D707-EA58-2F4DFC64BCC8}"/>
              </a:ext>
            </a:extLst>
          </p:cNvPr>
          <p:cNvSpPr txBox="1"/>
          <p:nvPr/>
        </p:nvSpPr>
        <p:spPr>
          <a:xfrm>
            <a:off x="1056444" y="1594499"/>
            <a:ext cx="9383696" cy="52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Myriad Condensed" panose="020B0800000000000000" pitchFamily="34" charset="0"/>
              </a:rPr>
              <a:t>How do we calculate the overlapping area for </a:t>
            </a:r>
            <a:r>
              <a:rPr lang="en-GB" sz="2800" dirty="0" err="1">
                <a:latin typeface="Myriad Condensed" panose="020B0800000000000000" pitchFamily="34" charset="0"/>
              </a:rPr>
              <a:t>center</a:t>
            </a:r>
            <a:r>
              <a:rPr lang="en-GB" sz="2800" dirty="0">
                <a:latin typeface="Myriad Condensed" panose="020B0800000000000000" pitchFamily="34" charset="0"/>
              </a:rPr>
              <a:t> positioned AABB 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EC0582-32B4-2D3E-BB47-2C0ACB772CF9}"/>
              </a:ext>
            </a:extLst>
          </p:cNvPr>
          <p:cNvSpPr/>
          <p:nvPr/>
        </p:nvSpPr>
        <p:spPr>
          <a:xfrm>
            <a:off x="5353234" y="3777980"/>
            <a:ext cx="2924317" cy="179969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DEF565-91F7-7743-D793-02DC6AE62700}"/>
              </a:ext>
            </a:extLst>
          </p:cNvPr>
          <p:cNvSpPr txBox="1"/>
          <p:nvPr/>
        </p:nvSpPr>
        <p:spPr>
          <a:xfrm>
            <a:off x="4354498" y="3632148"/>
            <a:ext cx="80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X1, Y1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491DA7-81CF-336C-8B0C-79E71288F1C5}"/>
              </a:ext>
            </a:extLst>
          </p:cNvPr>
          <p:cNvSpPr txBox="1"/>
          <p:nvPr/>
        </p:nvSpPr>
        <p:spPr>
          <a:xfrm>
            <a:off x="6514143" y="4524106"/>
            <a:ext cx="80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X1, Y1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40604-6D11-F79B-0B45-A41B50DDFCBB}"/>
              </a:ext>
            </a:extLst>
          </p:cNvPr>
          <p:cNvSpPr txBox="1"/>
          <p:nvPr/>
        </p:nvSpPr>
        <p:spPr>
          <a:xfrm>
            <a:off x="1198484" y="5761608"/>
            <a:ext cx="9170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  <a:latin typeface="Myriad Condensed" panose="020B0800000000000000" pitchFamily="34" charset="0"/>
              </a:rPr>
              <a:t>Crucial for assignment 3 as we are making Mario Clone</a:t>
            </a:r>
          </a:p>
        </p:txBody>
      </p:sp>
    </p:spTree>
    <p:extLst>
      <p:ext uri="{BB962C8B-B14F-4D97-AF65-F5344CB8AC3E}">
        <p14:creationId xmlns:p14="http://schemas.microsoft.com/office/powerpoint/2010/main" val="3338537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0148D8-3FB9-07BC-ADB5-F23FBCF6B522}"/>
              </a:ext>
            </a:extLst>
          </p:cNvPr>
          <p:cNvSpPr/>
          <p:nvPr/>
        </p:nvSpPr>
        <p:spPr>
          <a:xfrm>
            <a:off x="3645763" y="1908699"/>
            <a:ext cx="4379650" cy="284973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1B8DB-52F5-5575-FBBA-392FA4056BB9}"/>
              </a:ext>
            </a:extLst>
          </p:cNvPr>
          <p:cNvSpPr txBox="1"/>
          <p:nvPr/>
        </p:nvSpPr>
        <p:spPr>
          <a:xfrm>
            <a:off x="4465468" y="1480806"/>
            <a:ext cx="2645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Myriad Condensed" panose="020B0800000000000000" pitchFamily="34" charset="0"/>
              </a:rPr>
              <a:t>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6B8F9C-B917-40B9-3D99-928AF71E9464}"/>
              </a:ext>
            </a:extLst>
          </p:cNvPr>
          <p:cNvSpPr txBox="1"/>
          <p:nvPr/>
        </p:nvSpPr>
        <p:spPr>
          <a:xfrm>
            <a:off x="6961573" y="3148899"/>
            <a:ext cx="2645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atin typeface="Myriad Condensed" panose="020B0800000000000000" pitchFamily="34" charset="0"/>
              </a:rPr>
              <a:t>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4876F-9BBC-3626-A87F-AB3CF88C5D44}"/>
              </a:ext>
            </a:extLst>
          </p:cNvPr>
          <p:cNvSpPr txBox="1"/>
          <p:nvPr/>
        </p:nvSpPr>
        <p:spPr>
          <a:xfrm>
            <a:off x="4512815" y="3148899"/>
            <a:ext cx="2645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yriad Condensed" panose="020B0800000000000000" pitchFamily="34" charset="0"/>
              </a:rPr>
              <a:t>X,Y</a:t>
            </a:r>
          </a:p>
        </p:txBody>
      </p:sp>
    </p:spTree>
    <p:extLst>
      <p:ext uri="{BB962C8B-B14F-4D97-AF65-F5344CB8AC3E}">
        <p14:creationId xmlns:p14="http://schemas.microsoft.com/office/powerpoint/2010/main" val="38232868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4575-AFAB-D6A9-B8CC-BAD302FB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E73C7A-EBD6-7184-6ADE-0A4054228160}"/>
              </a:ext>
            </a:extLst>
          </p:cNvPr>
          <p:cNvSpPr/>
          <p:nvPr/>
        </p:nvSpPr>
        <p:spPr>
          <a:xfrm>
            <a:off x="6095999" y="871746"/>
            <a:ext cx="4379650" cy="284973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B0993-22DB-0A65-A755-15C912D9ABED}"/>
              </a:ext>
            </a:extLst>
          </p:cNvPr>
          <p:cNvSpPr txBox="1"/>
          <p:nvPr/>
        </p:nvSpPr>
        <p:spPr>
          <a:xfrm>
            <a:off x="6963051" y="397458"/>
            <a:ext cx="2645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err="1">
                <a:latin typeface="Myriad Condensed" panose="020B0800000000000000" pitchFamily="34" charset="0"/>
              </a:rPr>
              <a:t>CBBox</a:t>
            </a:r>
            <a:r>
              <a:rPr lang="en-GB" sz="2800" dirty="0">
                <a:latin typeface="Myriad Condensed" panose="020B0800000000000000" pitchFamily="34" charset="0"/>
              </a:rPr>
              <a:t> </a:t>
            </a:r>
            <a:r>
              <a:rPr lang="en-GB" sz="2800" dirty="0" err="1">
                <a:latin typeface="Myriad Condensed" panose="020B0800000000000000" pitchFamily="34" charset="0"/>
              </a:rPr>
              <a:t>size.x</a:t>
            </a:r>
            <a:endParaRPr lang="en-GB" sz="2800" dirty="0">
              <a:latin typeface="Myriad Condensed" panose="020B0800000000000000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AA5B54-10F3-DEDD-4C29-495AE3AABBF3}"/>
              </a:ext>
            </a:extLst>
          </p:cNvPr>
          <p:cNvSpPr txBox="1"/>
          <p:nvPr/>
        </p:nvSpPr>
        <p:spPr>
          <a:xfrm rot="5400000">
            <a:off x="9586402" y="2035002"/>
            <a:ext cx="2645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err="1">
                <a:latin typeface="Myriad Condensed" panose="020B0800000000000000" pitchFamily="34" charset="0"/>
              </a:rPr>
              <a:t>CBBox</a:t>
            </a:r>
            <a:r>
              <a:rPr lang="en-GB" sz="2800" dirty="0">
                <a:latin typeface="Myriad Condensed" panose="020B0800000000000000" pitchFamily="34" charset="0"/>
              </a:rPr>
              <a:t> </a:t>
            </a:r>
            <a:r>
              <a:rPr lang="en-GB" sz="2800" dirty="0" err="1">
                <a:latin typeface="Myriad Condensed" panose="020B0800000000000000" pitchFamily="34" charset="0"/>
              </a:rPr>
              <a:t>size.y</a:t>
            </a:r>
            <a:endParaRPr lang="en-GB" sz="2800" dirty="0">
              <a:latin typeface="Myriad Condensed" panose="020B0800000000000000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751B6-52BE-3D4F-A2C2-71C5131E64BE}"/>
              </a:ext>
            </a:extLst>
          </p:cNvPr>
          <p:cNvSpPr txBox="1"/>
          <p:nvPr/>
        </p:nvSpPr>
        <p:spPr>
          <a:xfrm>
            <a:off x="6963051" y="1520859"/>
            <a:ext cx="26455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latin typeface="Myriad Condensed" panose="020B0800000000000000" pitchFamily="34" charset="0"/>
              </a:rPr>
              <a:t>CTransform</a:t>
            </a:r>
            <a:endParaRPr lang="en-GB" sz="3200" dirty="0">
              <a:latin typeface="Myriad Condensed" panose="020B0800000000000000" pitchFamily="34" charset="0"/>
            </a:endParaRPr>
          </a:p>
          <a:p>
            <a:pPr algn="ctr"/>
            <a:r>
              <a:rPr lang="en-GB" sz="3200" dirty="0" err="1">
                <a:latin typeface="Myriad Condensed" panose="020B0800000000000000" pitchFamily="34" charset="0"/>
              </a:rPr>
              <a:t>pos</a:t>
            </a:r>
            <a:r>
              <a:rPr lang="en-GB" sz="3200" dirty="0">
                <a:latin typeface="Myriad Condensed" panose="020B0800000000000000" pitchFamily="34" charset="0"/>
              </a:rPr>
              <a:t>(X,Y)</a:t>
            </a:r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31D6673-B6FC-B1D8-97BF-8BD4A4B7B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74" y="397458"/>
            <a:ext cx="4254511" cy="3324020"/>
          </a:xfrm>
          <a:prstGeom prst="rect">
            <a:avLst/>
          </a:prstGeom>
        </p:spPr>
      </p:pic>
      <p:pic>
        <p:nvPicPr>
          <p:cNvPr id="11" name="Picture 10" descr="A computer code with text&#10;&#10;AI-generated content may be incorrect.">
            <a:extLst>
              <a:ext uri="{FF2B5EF4-FFF2-40B4-BE49-F238E27FC236}">
                <a16:creationId xmlns:a16="http://schemas.microsoft.com/office/drawing/2014/main" id="{16F29F2C-D02E-57A7-5362-754EB7CCE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39" y="3915052"/>
            <a:ext cx="5662416" cy="273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9074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17DD-F81E-4C28-6B2A-A3E8BF64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319B59-0429-0F11-DD02-7DE03F72B39E}"/>
              </a:ext>
            </a:extLst>
          </p:cNvPr>
          <p:cNvSpPr/>
          <p:nvPr/>
        </p:nvSpPr>
        <p:spPr>
          <a:xfrm>
            <a:off x="6095999" y="871746"/>
            <a:ext cx="4379650" cy="284973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38325-BC10-3394-9FE2-DBF4E9F0777D}"/>
              </a:ext>
            </a:extLst>
          </p:cNvPr>
          <p:cNvSpPr txBox="1"/>
          <p:nvPr/>
        </p:nvSpPr>
        <p:spPr>
          <a:xfrm>
            <a:off x="6963051" y="397458"/>
            <a:ext cx="2645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err="1">
                <a:latin typeface="Myriad Condensed" panose="020B0800000000000000" pitchFamily="34" charset="0"/>
              </a:rPr>
              <a:t>CBBox</a:t>
            </a:r>
            <a:r>
              <a:rPr lang="en-GB" sz="2800" dirty="0">
                <a:latin typeface="Myriad Condensed" panose="020B0800000000000000" pitchFamily="34" charset="0"/>
              </a:rPr>
              <a:t> </a:t>
            </a:r>
            <a:r>
              <a:rPr lang="en-GB" sz="2800" dirty="0" err="1">
                <a:latin typeface="Myriad Condensed" panose="020B0800000000000000" pitchFamily="34" charset="0"/>
              </a:rPr>
              <a:t>size.x</a:t>
            </a:r>
            <a:endParaRPr lang="en-GB" sz="2800" dirty="0">
              <a:latin typeface="Myriad Condensed" panose="020B0800000000000000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D06E63-9B2C-C193-CF97-0BFF6B067104}"/>
              </a:ext>
            </a:extLst>
          </p:cNvPr>
          <p:cNvSpPr txBox="1"/>
          <p:nvPr/>
        </p:nvSpPr>
        <p:spPr>
          <a:xfrm rot="5400000">
            <a:off x="9586402" y="2035002"/>
            <a:ext cx="2645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 err="1">
                <a:latin typeface="Myriad Condensed" panose="020B0800000000000000" pitchFamily="34" charset="0"/>
              </a:rPr>
              <a:t>CBBox</a:t>
            </a:r>
            <a:r>
              <a:rPr lang="en-GB" sz="2800" dirty="0">
                <a:latin typeface="Myriad Condensed" panose="020B0800000000000000" pitchFamily="34" charset="0"/>
              </a:rPr>
              <a:t> </a:t>
            </a:r>
            <a:r>
              <a:rPr lang="en-GB" sz="2800" dirty="0" err="1">
                <a:latin typeface="Myriad Condensed" panose="020B0800000000000000" pitchFamily="34" charset="0"/>
              </a:rPr>
              <a:t>size.y</a:t>
            </a:r>
            <a:endParaRPr lang="en-GB" sz="2800" dirty="0">
              <a:latin typeface="Myriad Condensed" panose="020B0800000000000000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62B6F-3576-1414-537B-53627DAEA1CC}"/>
              </a:ext>
            </a:extLst>
          </p:cNvPr>
          <p:cNvSpPr txBox="1"/>
          <p:nvPr/>
        </p:nvSpPr>
        <p:spPr>
          <a:xfrm>
            <a:off x="6963051" y="1520859"/>
            <a:ext cx="26455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err="1">
                <a:latin typeface="Myriad Condensed" panose="020B0800000000000000" pitchFamily="34" charset="0"/>
              </a:rPr>
              <a:t>CTransform</a:t>
            </a:r>
            <a:endParaRPr lang="en-GB" sz="3200" dirty="0">
              <a:latin typeface="Myriad Condensed" panose="020B0800000000000000" pitchFamily="34" charset="0"/>
            </a:endParaRPr>
          </a:p>
          <a:p>
            <a:pPr algn="ctr"/>
            <a:r>
              <a:rPr lang="en-GB" sz="3200" dirty="0" err="1">
                <a:latin typeface="Myriad Condensed" panose="020B0800000000000000" pitchFamily="34" charset="0"/>
              </a:rPr>
              <a:t>pos</a:t>
            </a:r>
            <a:r>
              <a:rPr lang="en-GB" sz="3200" dirty="0">
                <a:latin typeface="Myriad Condensed" panose="020B0800000000000000" pitchFamily="34" charset="0"/>
              </a:rPr>
              <a:t>(X,Y)</a:t>
            </a:r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329D18A-C426-5C30-5BB6-6C3929727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74" y="397458"/>
            <a:ext cx="4254511" cy="3324020"/>
          </a:xfrm>
          <a:prstGeom prst="rect">
            <a:avLst/>
          </a:prstGeom>
        </p:spPr>
      </p:pic>
      <p:pic>
        <p:nvPicPr>
          <p:cNvPr id="11" name="Picture 10" descr="A computer code with text&#10;&#10;AI-generated content may be incorrect.">
            <a:extLst>
              <a:ext uri="{FF2B5EF4-FFF2-40B4-BE49-F238E27FC236}">
                <a16:creationId xmlns:a16="http://schemas.microsoft.com/office/drawing/2014/main" id="{BF16E27E-9E5B-B5D9-BC06-634A354AF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39" y="3915052"/>
            <a:ext cx="5662416" cy="2734323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4220CF-CA5F-D78F-61F4-FDF2DFA4A87B}"/>
              </a:ext>
            </a:extLst>
          </p:cNvPr>
          <p:cNvCxnSpPr/>
          <p:nvPr/>
        </p:nvCxnSpPr>
        <p:spPr>
          <a:xfrm flipV="1">
            <a:off x="3018408" y="3915052"/>
            <a:ext cx="2707689" cy="1384917"/>
          </a:xfrm>
          <a:prstGeom prst="straightConnector1">
            <a:avLst/>
          </a:prstGeom>
          <a:ln w="5715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669545-FA9E-31BE-BC22-613901AEE922}"/>
              </a:ext>
            </a:extLst>
          </p:cNvPr>
          <p:cNvCxnSpPr/>
          <p:nvPr/>
        </p:nvCxnSpPr>
        <p:spPr>
          <a:xfrm>
            <a:off x="6095999" y="3817398"/>
            <a:ext cx="22135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916576-FEA6-FA88-620D-2E434F23F7E5}"/>
              </a:ext>
            </a:extLst>
          </p:cNvPr>
          <p:cNvCxnSpPr/>
          <p:nvPr/>
        </p:nvCxnSpPr>
        <p:spPr>
          <a:xfrm flipV="1">
            <a:off x="5992427" y="2308194"/>
            <a:ext cx="0" cy="141328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1785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234E-2A0A-0E8A-A619-18409414B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43D3B4-5EF4-A478-1B28-5D577346CE48}"/>
              </a:ext>
            </a:extLst>
          </p:cNvPr>
          <p:cNvSpPr/>
          <p:nvPr/>
        </p:nvSpPr>
        <p:spPr>
          <a:xfrm>
            <a:off x="751642" y="925012"/>
            <a:ext cx="4379650" cy="284973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F8515-27BC-98B2-2DA7-D55D14AEC0D0}"/>
              </a:ext>
            </a:extLst>
          </p:cNvPr>
          <p:cNvSpPr txBox="1"/>
          <p:nvPr/>
        </p:nvSpPr>
        <p:spPr>
          <a:xfrm>
            <a:off x="1636449" y="2098383"/>
            <a:ext cx="2645545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yriad Condensed" panose="020B0800000000000000" pitchFamily="34" charset="0"/>
              </a:rPr>
              <a:t>(X1,Y1)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B55F91-A857-FED9-1064-85E4F3F045E8}"/>
              </a:ext>
            </a:extLst>
          </p:cNvPr>
          <p:cNvSpPr/>
          <p:nvPr/>
        </p:nvSpPr>
        <p:spPr>
          <a:xfrm>
            <a:off x="5795638" y="2158900"/>
            <a:ext cx="4379650" cy="284973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AFE7E-9EE5-6994-5AC8-053DC073E313}"/>
              </a:ext>
            </a:extLst>
          </p:cNvPr>
          <p:cNvSpPr txBox="1"/>
          <p:nvPr/>
        </p:nvSpPr>
        <p:spPr>
          <a:xfrm>
            <a:off x="6591669" y="3302960"/>
            <a:ext cx="2645545" cy="5847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yriad Condensed" panose="020B0800000000000000" pitchFamily="34" charset="0"/>
              </a:rPr>
              <a:t>(X2,Y2)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D83A20-1BFE-DB62-C4C9-8626618CCDEB}"/>
              </a:ext>
            </a:extLst>
          </p:cNvPr>
          <p:cNvCxnSpPr/>
          <p:nvPr/>
        </p:nvCxnSpPr>
        <p:spPr>
          <a:xfrm>
            <a:off x="2941467" y="2947386"/>
            <a:ext cx="5067671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F95B4E7-D7B1-6D7B-FB72-BCFD2080D23A}"/>
              </a:ext>
            </a:extLst>
          </p:cNvPr>
          <p:cNvSpPr txBox="1"/>
          <p:nvPr/>
        </p:nvSpPr>
        <p:spPr>
          <a:xfrm>
            <a:off x="5188258" y="2452325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dx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975934-B894-7F28-F694-42C18CC9ED53}"/>
              </a:ext>
            </a:extLst>
          </p:cNvPr>
          <p:cNvSpPr txBox="1"/>
          <p:nvPr/>
        </p:nvSpPr>
        <p:spPr>
          <a:xfrm>
            <a:off x="167565" y="1990660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H1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EA5831-E12D-F608-1150-F0E2D75733EB}"/>
              </a:ext>
            </a:extLst>
          </p:cNvPr>
          <p:cNvSpPr txBox="1"/>
          <p:nvPr/>
        </p:nvSpPr>
        <p:spPr>
          <a:xfrm>
            <a:off x="10298833" y="3302960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H2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8A6084-39F9-0482-DA6B-53D8870A23F2}"/>
              </a:ext>
            </a:extLst>
          </p:cNvPr>
          <p:cNvSpPr txBox="1"/>
          <p:nvPr/>
        </p:nvSpPr>
        <p:spPr>
          <a:xfrm>
            <a:off x="2592649" y="424476"/>
            <a:ext cx="55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W1</a:t>
            </a:r>
            <a:endParaRPr lang="en-GB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C0DFEA-C4AA-E33B-3FE7-94A4A6BA4998}"/>
              </a:ext>
            </a:extLst>
          </p:cNvPr>
          <p:cNvSpPr txBox="1"/>
          <p:nvPr/>
        </p:nvSpPr>
        <p:spPr>
          <a:xfrm>
            <a:off x="7662536" y="1510939"/>
            <a:ext cx="6735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W2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FFE1F4-E1B6-04C9-81D2-3C322ABC0430}"/>
              </a:ext>
            </a:extLst>
          </p:cNvPr>
          <p:cNvSpPr txBox="1"/>
          <p:nvPr/>
        </p:nvSpPr>
        <p:spPr>
          <a:xfrm>
            <a:off x="671373" y="4505477"/>
            <a:ext cx="2984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accent5"/>
                </a:solidFill>
                <a:latin typeface="Consolas" panose="020B0609020204030204" pitchFamily="49" charset="0"/>
              </a:rPr>
              <a:t>dx = abs(X2 – X1)</a:t>
            </a:r>
          </a:p>
        </p:txBody>
      </p:sp>
    </p:spTree>
    <p:extLst>
      <p:ext uri="{BB962C8B-B14F-4D97-AF65-F5344CB8AC3E}">
        <p14:creationId xmlns:p14="http://schemas.microsoft.com/office/powerpoint/2010/main" val="216035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6A6B9-590A-A988-2DFF-0FACE7B61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38DC44-E55A-CD37-A4DB-C5DAC948CBA3}"/>
              </a:ext>
            </a:extLst>
          </p:cNvPr>
          <p:cNvSpPr/>
          <p:nvPr/>
        </p:nvSpPr>
        <p:spPr>
          <a:xfrm>
            <a:off x="751642" y="925012"/>
            <a:ext cx="4379650" cy="284973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CD03E0-6317-AEA7-8AD5-2DC209EAEF91}"/>
              </a:ext>
            </a:extLst>
          </p:cNvPr>
          <p:cNvSpPr txBox="1"/>
          <p:nvPr/>
        </p:nvSpPr>
        <p:spPr>
          <a:xfrm>
            <a:off x="1636449" y="2098383"/>
            <a:ext cx="2645545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yriad Condensed" panose="020B0800000000000000" pitchFamily="34" charset="0"/>
              </a:rPr>
              <a:t>(X1,Y1)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3FF1C-7979-C160-5C44-4977FC43124E}"/>
              </a:ext>
            </a:extLst>
          </p:cNvPr>
          <p:cNvSpPr/>
          <p:nvPr/>
        </p:nvSpPr>
        <p:spPr>
          <a:xfrm>
            <a:off x="5795638" y="2158900"/>
            <a:ext cx="4379650" cy="284973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AB80AF-B8A1-C2FF-6D2A-2E2E72F2124E}"/>
              </a:ext>
            </a:extLst>
          </p:cNvPr>
          <p:cNvSpPr txBox="1"/>
          <p:nvPr/>
        </p:nvSpPr>
        <p:spPr>
          <a:xfrm>
            <a:off x="6591669" y="3302960"/>
            <a:ext cx="2645545" cy="5847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yriad Condensed" panose="020B0800000000000000" pitchFamily="34" charset="0"/>
              </a:rPr>
              <a:t>(X2,Y2)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2023CC-0275-6100-19DC-E841BA0706AD}"/>
              </a:ext>
            </a:extLst>
          </p:cNvPr>
          <p:cNvCxnSpPr/>
          <p:nvPr/>
        </p:nvCxnSpPr>
        <p:spPr>
          <a:xfrm>
            <a:off x="2941467" y="2947386"/>
            <a:ext cx="5067671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EBF869F-1B06-3318-C6F7-057BBB35FF4D}"/>
              </a:ext>
            </a:extLst>
          </p:cNvPr>
          <p:cNvSpPr txBox="1"/>
          <p:nvPr/>
        </p:nvSpPr>
        <p:spPr>
          <a:xfrm>
            <a:off x="5188258" y="2452325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dx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5B0F19-FE2C-8BE8-0382-76E2962D57DF}"/>
              </a:ext>
            </a:extLst>
          </p:cNvPr>
          <p:cNvSpPr txBox="1"/>
          <p:nvPr/>
        </p:nvSpPr>
        <p:spPr>
          <a:xfrm>
            <a:off x="167565" y="1990660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H1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65DAD5-528F-E2A4-6F7D-88C2F1505437}"/>
              </a:ext>
            </a:extLst>
          </p:cNvPr>
          <p:cNvSpPr txBox="1"/>
          <p:nvPr/>
        </p:nvSpPr>
        <p:spPr>
          <a:xfrm>
            <a:off x="10298833" y="3302960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H2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3C0620-1757-9389-7179-A0E1A130C467}"/>
              </a:ext>
            </a:extLst>
          </p:cNvPr>
          <p:cNvSpPr txBox="1"/>
          <p:nvPr/>
        </p:nvSpPr>
        <p:spPr>
          <a:xfrm>
            <a:off x="2592649" y="424476"/>
            <a:ext cx="55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W1</a:t>
            </a:r>
            <a:endParaRPr lang="en-GB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67BA51-7E52-4F53-BC26-8EC7B11BC66F}"/>
              </a:ext>
            </a:extLst>
          </p:cNvPr>
          <p:cNvSpPr txBox="1"/>
          <p:nvPr/>
        </p:nvSpPr>
        <p:spPr>
          <a:xfrm>
            <a:off x="7662536" y="1510939"/>
            <a:ext cx="6735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W2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12DD08-253E-B7F9-2158-3D363E752104}"/>
              </a:ext>
            </a:extLst>
          </p:cNvPr>
          <p:cNvSpPr txBox="1"/>
          <p:nvPr/>
        </p:nvSpPr>
        <p:spPr>
          <a:xfrm>
            <a:off x="671373" y="4505477"/>
            <a:ext cx="2984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accent5"/>
                </a:solidFill>
                <a:latin typeface="Consolas" panose="020B0609020204030204" pitchFamily="49" charset="0"/>
              </a:rPr>
              <a:t>dx = abs(X2 – X1)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FEE130-71D9-A1D1-7DD2-4E8E68288217}"/>
              </a:ext>
            </a:extLst>
          </p:cNvPr>
          <p:cNvSpPr txBox="1"/>
          <p:nvPr/>
        </p:nvSpPr>
        <p:spPr>
          <a:xfrm>
            <a:off x="3104224" y="4000727"/>
            <a:ext cx="18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Condensed" panose="020B0800000000000000" pitchFamily="34" charset="0"/>
              </a:rPr>
              <a:t>W1 /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F975F-A009-1D0D-22BE-E35BD91E3E7B}"/>
              </a:ext>
            </a:extLst>
          </p:cNvPr>
          <p:cNvSpPr txBox="1"/>
          <p:nvPr/>
        </p:nvSpPr>
        <p:spPr>
          <a:xfrm>
            <a:off x="5798227" y="1609769"/>
            <a:ext cx="18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Condensed" panose="020B0800000000000000" pitchFamily="34" charset="0"/>
              </a:rPr>
              <a:t>W1 / 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37DDC-0580-9A24-F1AA-E3C94406B83B}"/>
              </a:ext>
            </a:extLst>
          </p:cNvPr>
          <p:cNvCxnSpPr/>
          <p:nvPr/>
        </p:nvCxnSpPr>
        <p:spPr>
          <a:xfrm>
            <a:off x="2941467" y="3887735"/>
            <a:ext cx="2189825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934CCA-6295-55C5-FA4F-BAECA58505E8}"/>
              </a:ext>
            </a:extLst>
          </p:cNvPr>
          <p:cNvCxnSpPr>
            <a:cxnSpLocks/>
          </p:cNvCxnSpPr>
          <p:nvPr/>
        </p:nvCxnSpPr>
        <p:spPr>
          <a:xfrm>
            <a:off x="5795638" y="1972604"/>
            <a:ext cx="2050741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5223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498F7-CE6F-5D86-B82F-B422B2649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4E9597-7132-BE6E-0347-4498732AA140}"/>
              </a:ext>
            </a:extLst>
          </p:cNvPr>
          <p:cNvCxnSpPr/>
          <p:nvPr/>
        </p:nvCxnSpPr>
        <p:spPr>
          <a:xfrm>
            <a:off x="2941467" y="2947386"/>
            <a:ext cx="5067671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CCA87A1-8DE9-2B94-2F71-B25E48C6AE3B}"/>
              </a:ext>
            </a:extLst>
          </p:cNvPr>
          <p:cNvSpPr txBox="1"/>
          <p:nvPr/>
        </p:nvSpPr>
        <p:spPr>
          <a:xfrm>
            <a:off x="5188258" y="2452325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dx</a:t>
            </a:r>
            <a:endParaRPr lang="en-GB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0B6886-C85C-2B5B-D569-197B0300AC1F}"/>
              </a:ext>
            </a:extLst>
          </p:cNvPr>
          <p:cNvSpPr txBox="1"/>
          <p:nvPr/>
        </p:nvSpPr>
        <p:spPr>
          <a:xfrm>
            <a:off x="7662536" y="1510939"/>
            <a:ext cx="6735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W2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E24353-4471-F2A9-BE44-AF67535B2E7D}"/>
              </a:ext>
            </a:extLst>
          </p:cNvPr>
          <p:cNvSpPr txBox="1"/>
          <p:nvPr/>
        </p:nvSpPr>
        <p:spPr>
          <a:xfrm>
            <a:off x="715761" y="5988048"/>
            <a:ext cx="2984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accent5"/>
                </a:solidFill>
                <a:latin typeface="Consolas" panose="020B0609020204030204" pitchFamily="49" charset="0"/>
              </a:rPr>
              <a:t>dx = abs(X2 – X1)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611DF-77F1-E65E-1207-A5D0B7D776C4}"/>
              </a:ext>
            </a:extLst>
          </p:cNvPr>
          <p:cNvSpPr txBox="1"/>
          <p:nvPr/>
        </p:nvSpPr>
        <p:spPr>
          <a:xfrm>
            <a:off x="3104224" y="4000727"/>
            <a:ext cx="18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Condensed" panose="020B0800000000000000" pitchFamily="34" charset="0"/>
              </a:rPr>
              <a:t>W1 /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ABFDA7-E5D4-6085-A54A-C7E1267871D2}"/>
              </a:ext>
            </a:extLst>
          </p:cNvPr>
          <p:cNvSpPr txBox="1"/>
          <p:nvPr/>
        </p:nvSpPr>
        <p:spPr>
          <a:xfrm>
            <a:off x="5798227" y="1609769"/>
            <a:ext cx="18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Condensed" panose="020B0800000000000000" pitchFamily="34" charset="0"/>
              </a:rPr>
              <a:t>W1 / 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F51252-821C-7C52-CEDE-4D59976F5763}"/>
              </a:ext>
            </a:extLst>
          </p:cNvPr>
          <p:cNvCxnSpPr/>
          <p:nvPr/>
        </p:nvCxnSpPr>
        <p:spPr>
          <a:xfrm>
            <a:off x="2941467" y="3878857"/>
            <a:ext cx="2189825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3B0732-68DD-9A89-9CBA-2216BF04371F}"/>
              </a:ext>
            </a:extLst>
          </p:cNvPr>
          <p:cNvCxnSpPr>
            <a:cxnSpLocks/>
          </p:cNvCxnSpPr>
          <p:nvPr/>
        </p:nvCxnSpPr>
        <p:spPr>
          <a:xfrm>
            <a:off x="5958397" y="1979101"/>
            <a:ext cx="2050741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38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D6B97-C5F2-8EF7-A6EA-77AA9089D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AD6F33-A0A2-8E27-6709-C7F36269CA65}"/>
              </a:ext>
            </a:extLst>
          </p:cNvPr>
          <p:cNvCxnSpPr/>
          <p:nvPr/>
        </p:nvCxnSpPr>
        <p:spPr>
          <a:xfrm>
            <a:off x="2941467" y="2947386"/>
            <a:ext cx="5067671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FEC720E-EA44-24C5-078B-8D61B678ECF2}"/>
              </a:ext>
            </a:extLst>
          </p:cNvPr>
          <p:cNvSpPr txBox="1"/>
          <p:nvPr/>
        </p:nvSpPr>
        <p:spPr>
          <a:xfrm>
            <a:off x="5188258" y="2452325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dx</a:t>
            </a:r>
            <a:endParaRPr lang="en-GB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1416AF-D928-564C-3708-1F04CE692EC8}"/>
              </a:ext>
            </a:extLst>
          </p:cNvPr>
          <p:cNvSpPr txBox="1"/>
          <p:nvPr/>
        </p:nvSpPr>
        <p:spPr>
          <a:xfrm>
            <a:off x="7662536" y="1510939"/>
            <a:ext cx="6735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W2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700745-505F-2FED-8273-CCBE1B03B84F}"/>
              </a:ext>
            </a:extLst>
          </p:cNvPr>
          <p:cNvSpPr txBox="1"/>
          <p:nvPr/>
        </p:nvSpPr>
        <p:spPr>
          <a:xfrm>
            <a:off x="724639" y="4904972"/>
            <a:ext cx="2984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accent5"/>
                </a:solidFill>
                <a:latin typeface="Consolas" panose="020B0609020204030204" pitchFamily="49" charset="0"/>
              </a:rPr>
              <a:t>dx = abs(X2 – X1)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4DB56-AD59-504F-2CDA-8F9031E651FC}"/>
              </a:ext>
            </a:extLst>
          </p:cNvPr>
          <p:cNvSpPr txBox="1"/>
          <p:nvPr/>
        </p:nvSpPr>
        <p:spPr>
          <a:xfrm>
            <a:off x="3104224" y="4000727"/>
            <a:ext cx="18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Condensed" panose="020B0800000000000000" pitchFamily="34" charset="0"/>
              </a:rPr>
              <a:t>W1 /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7878F-0C79-FF39-9263-2529981FF2D5}"/>
              </a:ext>
            </a:extLst>
          </p:cNvPr>
          <p:cNvSpPr txBox="1"/>
          <p:nvPr/>
        </p:nvSpPr>
        <p:spPr>
          <a:xfrm>
            <a:off x="5798227" y="1609769"/>
            <a:ext cx="18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Condensed" panose="020B0800000000000000" pitchFamily="34" charset="0"/>
              </a:rPr>
              <a:t>W1 / 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8AD75-DAFA-89B0-3285-4CEBFBA88BDD}"/>
              </a:ext>
            </a:extLst>
          </p:cNvPr>
          <p:cNvCxnSpPr>
            <a:cxnSpLocks/>
          </p:cNvCxnSpPr>
          <p:nvPr/>
        </p:nvCxnSpPr>
        <p:spPr>
          <a:xfrm>
            <a:off x="2941467" y="3869979"/>
            <a:ext cx="2971061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B1FEE9-64C9-802A-DDE4-B2AD4F55ABCD}"/>
              </a:ext>
            </a:extLst>
          </p:cNvPr>
          <p:cNvCxnSpPr>
            <a:cxnSpLocks/>
          </p:cNvCxnSpPr>
          <p:nvPr/>
        </p:nvCxnSpPr>
        <p:spPr>
          <a:xfrm>
            <a:off x="4705165" y="1972604"/>
            <a:ext cx="3303973" cy="6497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04974EF-A73B-7D41-645A-A53F2FB6C4E3}"/>
              </a:ext>
            </a:extLst>
          </p:cNvPr>
          <p:cNvSpPr txBox="1"/>
          <p:nvPr/>
        </p:nvSpPr>
        <p:spPr>
          <a:xfrm>
            <a:off x="7403052" y="4148851"/>
            <a:ext cx="36949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accent5"/>
                </a:solidFill>
                <a:latin typeface="Consolas" panose="020B0609020204030204" pitchFamily="49" charset="0"/>
              </a:rPr>
              <a:t>(W2 / 2) + (W1 / 2) - dx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22DA7-EA06-5F54-70F7-843D961AAE51}"/>
              </a:ext>
            </a:extLst>
          </p:cNvPr>
          <p:cNvSpPr txBox="1"/>
          <p:nvPr/>
        </p:nvSpPr>
        <p:spPr>
          <a:xfrm>
            <a:off x="7332955" y="3355759"/>
            <a:ext cx="3471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Overlap in X-direction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E374D2-74AE-A36E-A615-4A799A0B6E6A}"/>
              </a:ext>
            </a:extLst>
          </p:cNvPr>
          <p:cNvSpPr txBox="1"/>
          <p:nvPr/>
        </p:nvSpPr>
        <p:spPr>
          <a:xfrm>
            <a:off x="7332955" y="4738914"/>
            <a:ext cx="3471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Positive if X overlap</a:t>
            </a:r>
          </a:p>
        </p:txBody>
      </p:sp>
    </p:spTree>
    <p:extLst>
      <p:ext uri="{BB962C8B-B14F-4D97-AF65-F5344CB8AC3E}">
        <p14:creationId xmlns:p14="http://schemas.microsoft.com/office/powerpoint/2010/main" val="38311216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0F01-7C3F-8BEB-021D-CB159C35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757871-3F62-1FD4-3D25-DC28C7EF3387}"/>
              </a:ext>
            </a:extLst>
          </p:cNvPr>
          <p:cNvSpPr/>
          <p:nvPr/>
        </p:nvSpPr>
        <p:spPr>
          <a:xfrm>
            <a:off x="751642" y="925012"/>
            <a:ext cx="4379650" cy="173828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5FF217-CBB6-52AE-F055-499B83BE65E2}"/>
              </a:ext>
            </a:extLst>
          </p:cNvPr>
          <p:cNvSpPr txBox="1"/>
          <p:nvPr/>
        </p:nvSpPr>
        <p:spPr>
          <a:xfrm>
            <a:off x="1549338" y="1564504"/>
            <a:ext cx="2645545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yriad Condensed" panose="020B0800000000000000" pitchFamily="34" charset="0"/>
              </a:rPr>
              <a:t>(X1,Y1)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FCE63F-C946-C69C-3804-FDA56FF96C38}"/>
              </a:ext>
            </a:extLst>
          </p:cNvPr>
          <p:cNvSpPr/>
          <p:nvPr/>
        </p:nvSpPr>
        <p:spPr>
          <a:xfrm>
            <a:off x="1472214" y="4059015"/>
            <a:ext cx="4379650" cy="214677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5D8E13-0CE6-4C6A-7493-6C5D6DC3D9E0}"/>
              </a:ext>
            </a:extLst>
          </p:cNvPr>
          <p:cNvSpPr txBox="1"/>
          <p:nvPr/>
        </p:nvSpPr>
        <p:spPr>
          <a:xfrm>
            <a:off x="2339266" y="4691726"/>
            <a:ext cx="2645545" cy="5847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yriad Condensed" panose="020B0800000000000000" pitchFamily="34" charset="0"/>
              </a:rPr>
              <a:t>(X2,Y2)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5685-9C50-523F-500F-A76228070684}"/>
              </a:ext>
            </a:extLst>
          </p:cNvPr>
          <p:cNvCxnSpPr>
            <a:cxnSpLocks/>
          </p:cNvCxnSpPr>
          <p:nvPr/>
        </p:nvCxnSpPr>
        <p:spPr>
          <a:xfrm>
            <a:off x="2236063" y="1917764"/>
            <a:ext cx="0" cy="3214636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ACD0194-318D-CD7A-172A-7FE20F95E586}"/>
              </a:ext>
            </a:extLst>
          </p:cNvPr>
          <p:cNvSpPr txBox="1"/>
          <p:nvPr/>
        </p:nvSpPr>
        <p:spPr>
          <a:xfrm>
            <a:off x="1564688" y="3063417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>
                <a:latin typeface="Myriad Condensed" panose="020B0800000000000000" pitchFamily="34" charset="0"/>
              </a:rPr>
              <a:t>dy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56A3D-B6EC-146F-8758-24A16BF02E46}"/>
              </a:ext>
            </a:extLst>
          </p:cNvPr>
          <p:cNvSpPr txBox="1"/>
          <p:nvPr/>
        </p:nvSpPr>
        <p:spPr>
          <a:xfrm>
            <a:off x="247834" y="1484633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H1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B23AD4-80D8-4902-51E1-FD16C74E57C2}"/>
              </a:ext>
            </a:extLst>
          </p:cNvPr>
          <p:cNvSpPr txBox="1"/>
          <p:nvPr/>
        </p:nvSpPr>
        <p:spPr>
          <a:xfrm>
            <a:off x="5975409" y="5203075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H2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862EC8-E048-C73E-654B-706216D71F88}"/>
              </a:ext>
            </a:extLst>
          </p:cNvPr>
          <p:cNvSpPr txBox="1"/>
          <p:nvPr/>
        </p:nvSpPr>
        <p:spPr>
          <a:xfrm>
            <a:off x="2592649" y="424476"/>
            <a:ext cx="55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W1</a:t>
            </a:r>
            <a:endParaRPr lang="en-GB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4CBE30-9162-1989-B90C-E7619CB09B56}"/>
              </a:ext>
            </a:extLst>
          </p:cNvPr>
          <p:cNvSpPr txBox="1"/>
          <p:nvPr/>
        </p:nvSpPr>
        <p:spPr>
          <a:xfrm>
            <a:off x="3339112" y="3411054"/>
            <a:ext cx="6735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W2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7AF6C5-0D19-6680-FBFF-70C31EA61564}"/>
              </a:ext>
            </a:extLst>
          </p:cNvPr>
          <p:cNvSpPr txBox="1"/>
          <p:nvPr/>
        </p:nvSpPr>
        <p:spPr>
          <a:xfrm>
            <a:off x="7139496" y="3000661"/>
            <a:ext cx="2984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dy</a:t>
            </a:r>
            <a:r>
              <a:rPr lang="en-GB" sz="2000" dirty="0">
                <a:solidFill>
                  <a:schemeClr val="accent5"/>
                </a:solidFill>
                <a:latin typeface="Consolas" panose="020B0609020204030204" pitchFamily="49" charset="0"/>
              </a:rPr>
              <a:t> = abs(Y2 – Y1)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B190B8-FDE3-3A7B-4325-458DBF952CCB}"/>
              </a:ext>
            </a:extLst>
          </p:cNvPr>
          <p:cNvSpPr txBox="1"/>
          <p:nvPr/>
        </p:nvSpPr>
        <p:spPr>
          <a:xfrm>
            <a:off x="4881608" y="1917764"/>
            <a:ext cx="18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Condensed" panose="020B0800000000000000" pitchFamily="34" charset="0"/>
              </a:rPr>
              <a:t>H1 /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504FF-D47B-38DC-B74C-EB2EB73D59D8}"/>
              </a:ext>
            </a:extLst>
          </p:cNvPr>
          <p:cNvSpPr txBox="1"/>
          <p:nvPr/>
        </p:nvSpPr>
        <p:spPr>
          <a:xfrm>
            <a:off x="5606434" y="4514445"/>
            <a:ext cx="18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Condensed" panose="020B0800000000000000" pitchFamily="34" charset="0"/>
              </a:rPr>
              <a:t>H2 / 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865DAF-7170-801A-5B45-84484D67E8BD}"/>
              </a:ext>
            </a:extLst>
          </p:cNvPr>
          <p:cNvCxnSpPr>
            <a:cxnSpLocks/>
          </p:cNvCxnSpPr>
          <p:nvPr/>
        </p:nvCxnSpPr>
        <p:spPr>
          <a:xfrm>
            <a:off x="5208231" y="1770042"/>
            <a:ext cx="0" cy="89325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46B63-DB5B-B291-D190-BAE26CC30830}"/>
              </a:ext>
            </a:extLst>
          </p:cNvPr>
          <p:cNvCxnSpPr>
            <a:cxnSpLocks/>
          </p:cNvCxnSpPr>
          <p:nvPr/>
        </p:nvCxnSpPr>
        <p:spPr>
          <a:xfrm>
            <a:off x="5975409" y="4078825"/>
            <a:ext cx="0" cy="1197676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980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9D01-3557-CB4B-147D-CB43A3FA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6D4BC-A901-15F3-5F6E-1D677EA3D672}"/>
              </a:ext>
            </a:extLst>
          </p:cNvPr>
          <p:cNvCxnSpPr>
            <a:cxnSpLocks/>
          </p:cNvCxnSpPr>
          <p:nvPr/>
        </p:nvCxnSpPr>
        <p:spPr>
          <a:xfrm>
            <a:off x="2236063" y="1917764"/>
            <a:ext cx="0" cy="3214636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615BBA-A478-0FD2-3617-993AFCE35888}"/>
              </a:ext>
            </a:extLst>
          </p:cNvPr>
          <p:cNvSpPr txBox="1"/>
          <p:nvPr/>
        </p:nvSpPr>
        <p:spPr>
          <a:xfrm>
            <a:off x="1564688" y="3063417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>
                <a:latin typeface="Myriad Condensed" panose="020B0800000000000000" pitchFamily="34" charset="0"/>
              </a:rPr>
              <a:t>dy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3D591F-6EF5-1DA5-0CEA-7F99B9696C68}"/>
              </a:ext>
            </a:extLst>
          </p:cNvPr>
          <p:cNvSpPr txBox="1"/>
          <p:nvPr/>
        </p:nvSpPr>
        <p:spPr>
          <a:xfrm>
            <a:off x="7920731" y="834509"/>
            <a:ext cx="2984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dy</a:t>
            </a:r>
            <a:r>
              <a:rPr lang="en-GB" sz="2000" dirty="0">
                <a:solidFill>
                  <a:schemeClr val="accent5"/>
                </a:solidFill>
                <a:latin typeface="Consolas" panose="020B0609020204030204" pitchFamily="49" charset="0"/>
              </a:rPr>
              <a:t> = abs(Y2 – Y1)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21780-6504-8BE5-F9FA-7B54696439A0}"/>
              </a:ext>
            </a:extLst>
          </p:cNvPr>
          <p:cNvSpPr txBox="1"/>
          <p:nvPr/>
        </p:nvSpPr>
        <p:spPr>
          <a:xfrm>
            <a:off x="1428194" y="4386863"/>
            <a:ext cx="18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Condensed" panose="020B0800000000000000" pitchFamily="34" charset="0"/>
              </a:rPr>
              <a:t>H1 /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0F70A-6656-DAB0-9905-16AD532B6818}"/>
              </a:ext>
            </a:extLst>
          </p:cNvPr>
          <p:cNvSpPr txBox="1"/>
          <p:nvPr/>
        </p:nvSpPr>
        <p:spPr>
          <a:xfrm>
            <a:off x="2236063" y="2331936"/>
            <a:ext cx="18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Condensed" panose="020B0800000000000000" pitchFamily="34" charset="0"/>
              </a:rPr>
              <a:t>H2 / 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94E947-BB72-516C-F342-6725B69BBCE4}"/>
              </a:ext>
            </a:extLst>
          </p:cNvPr>
          <p:cNvCxnSpPr>
            <a:cxnSpLocks/>
          </p:cNvCxnSpPr>
          <p:nvPr/>
        </p:nvCxnSpPr>
        <p:spPr>
          <a:xfrm>
            <a:off x="1754817" y="4239141"/>
            <a:ext cx="0" cy="893259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B7EEFD-1D8A-B1CF-1899-14015248BF2C}"/>
              </a:ext>
            </a:extLst>
          </p:cNvPr>
          <p:cNvCxnSpPr>
            <a:cxnSpLocks/>
          </p:cNvCxnSpPr>
          <p:nvPr/>
        </p:nvCxnSpPr>
        <p:spPr>
          <a:xfrm>
            <a:off x="2646282" y="1917764"/>
            <a:ext cx="0" cy="1197676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7604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BCE62-7187-F81E-9B6D-81EA7983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4A020E-DA6E-567B-A6AC-0866EEB6487F}"/>
              </a:ext>
            </a:extLst>
          </p:cNvPr>
          <p:cNvCxnSpPr>
            <a:cxnSpLocks/>
          </p:cNvCxnSpPr>
          <p:nvPr/>
        </p:nvCxnSpPr>
        <p:spPr>
          <a:xfrm>
            <a:off x="2236063" y="1917764"/>
            <a:ext cx="0" cy="3214636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7570FF8-0B42-90C1-3BA0-25CC444638DE}"/>
              </a:ext>
            </a:extLst>
          </p:cNvPr>
          <p:cNvSpPr txBox="1"/>
          <p:nvPr/>
        </p:nvSpPr>
        <p:spPr>
          <a:xfrm>
            <a:off x="924386" y="3063417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 err="1">
                <a:latin typeface="Myriad Condensed" panose="020B0800000000000000" pitchFamily="34" charset="0"/>
              </a:rPr>
              <a:t>dy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ED0ACB-7432-D6A9-09EC-BC0BDC5260D1}"/>
              </a:ext>
            </a:extLst>
          </p:cNvPr>
          <p:cNvSpPr txBox="1"/>
          <p:nvPr/>
        </p:nvSpPr>
        <p:spPr>
          <a:xfrm>
            <a:off x="7920731" y="834509"/>
            <a:ext cx="2984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dy</a:t>
            </a:r>
            <a:r>
              <a:rPr lang="en-GB" sz="2000" dirty="0">
                <a:solidFill>
                  <a:schemeClr val="accent5"/>
                </a:solidFill>
                <a:latin typeface="Consolas" panose="020B0609020204030204" pitchFamily="49" charset="0"/>
              </a:rPr>
              <a:t> = abs(Y2 – Y1)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04EE2-681B-A60C-916F-A64D89A485CB}"/>
              </a:ext>
            </a:extLst>
          </p:cNvPr>
          <p:cNvSpPr txBox="1"/>
          <p:nvPr/>
        </p:nvSpPr>
        <p:spPr>
          <a:xfrm>
            <a:off x="244135" y="4209714"/>
            <a:ext cx="18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Condensed" panose="020B0800000000000000" pitchFamily="34" charset="0"/>
              </a:rPr>
              <a:t>H1 /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144B9-C405-3BEE-2596-6EA5AD6F9F93}"/>
              </a:ext>
            </a:extLst>
          </p:cNvPr>
          <p:cNvSpPr txBox="1"/>
          <p:nvPr/>
        </p:nvSpPr>
        <p:spPr>
          <a:xfrm>
            <a:off x="2236063" y="2331936"/>
            <a:ext cx="18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Myriad Condensed" panose="020B0800000000000000" pitchFamily="34" charset="0"/>
              </a:rPr>
              <a:t>H2 / 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57DDC2-F941-6B80-966F-539BF0A71752}"/>
              </a:ext>
            </a:extLst>
          </p:cNvPr>
          <p:cNvCxnSpPr>
            <a:cxnSpLocks/>
          </p:cNvCxnSpPr>
          <p:nvPr/>
        </p:nvCxnSpPr>
        <p:spPr>
          <a:xfrm>
            <a:off x="1745939" y="3294249"/>
            <a:ext cx="0" cy="1852208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27652C-BC54-53E9-1E35-9026F35FF1A6}"/>
              </a:ext>
            </a:extLst>
          </p:cNvPr>
          <p:cNvCxnSpPr>
            <a:cxnSpLocks/>
          </p:cNvCxnSpPr>
          <p:nvPr/>
        </p:nvCxnSpPr>
        <p:spPr>
          <a:xfrm>
            <a:off x="2646282" y="1917764"/>
            <a:ext cx="0" cy="1695448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C89DB5-4CC6-B046-7FF7-CBA15B3DD421}"/>
              </a:ext>
            </a:extLst>
          </p:cNvPr>
          <p:cNvSpPr txBox="1"/>
          <p:nvPr/>
        </p:nvSpPr>
        <p:spPr>
          <a:xfrm>
            <a:off x="7403052" y="4148851"/>
            <a:ext cx="36949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accent5"/>
                </a:solidFill>
                <a:latin typeface="Consolas" panose="020B0609020204030204" pitchFamily="49" charset="0"/>
              </a:rPr>
              <a:t>(H2 / 2) + (H1 / 2) - </a:t>
            </a:r>
            <a:r>
              <a:rPr lang="en-GB" sz="2000" dirty="0" err="1">
                <a:solidFill>
                  <a:schemeClr val="accent5"/>
                </a:solidFill>
                <a:latin typeface="Consolas" panose="020B0609020204030204" pitchFamily="49" charset="0"/>
              </a:rPr>
              <a:t>dy</a:t>
            </a:r>
            <a:endParaRPr lang="en-GB" sz="20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498F12-8AA6-5E39-C524-467DFF5E5DA0}"/>
              </a:ext>
            </a:extLst>
          </p:cNvPr>
          <p:cNvSpPr txBox="1"/>
          <p:nvPr/>
        </p:nvSpPr>
        <p:spPr>
          <a:xfrm>
            <a:off x="7332955" y="3355759"/>
            <a:ext cx="3471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Overlap in Y-direction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913F29-2D05-8094-061F-8FCEDD56C330}"/>
              </a:ext>
            </a:extLst>
          </p:cNvPr>
          <p:cNvSpPr txBox="1"/>
          <p:nvPr/>
        </p:nvSpPr>
        <p:spPr>
          <a:xfrm>
            <a:off x="7332955" y="4738914"/>
            <a:ext cx="34711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Positive if Y overlap</a:t>
            </a:r>
          </a:p>
        </p:txBody>
      </p:sp>
    </p:spTree>
    <p:extLst>
      <p:ext uri="{BB962C8B-B14F-4D97-AF65-F5344CB8AC3E}">
        <p14:creationId xmlns:p14="http://schemas.microsoft.com/office/powerpoint/2010/main" val="35427701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8E4D2-0031-5DA7-4741-F36602787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034FD7-EF4C-CC46-0807-0E53EBF7BF0E}"/>
              </a:ext>
            </a:extLst>
          </p:cNvPr>
          <p:cNvSpPr/>
          <p:nvPr/>
        </p:nvSpPr>
        <p:spPr>
          <a:xfrm>
            <a:off x="1959005" y="1222765"/>
            <a:ext cx="4379650" cy="173828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76557-1932-0860-E3A4-4BE80AEBE812}"/>
              </a:ext>
            </a:extLst>
          </p:cNvPr>
          <p:cNvSpPr txBox="1"/>
          <p:nvPr/>
        </p:nvSpPr>
        <p:spPr>
          <a:xfrm>
            <a:off x="2756701" y="1862257"/>
            <a:ext cx="2645545" cy="5847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yriad Condensed" panose="020B0800000000000000" pitchFamily="34" charset="0"/>
              </a:rPr>
              <a:t>(X1,Y1)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B56A7F-C036-637F-A541-1DBD8261CC0D}"/>
              </a:ext>
            </a:extLst>
          </p:cNvPr>
          <p:cNvSpPr/>
          <p:nvPr/>
        </p:nvSpPr>
        <p:spPr>
          <a:xfrm>
            <a:off x="5777884" y="2091910"/>
            <a:ext cx="4379650" cy="214677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2FE1B-FEC1-74D9-479D-5AF9A22A16B1}"/>
              </a:ext>
            </a:extLst>
          </p:cNvPr>
          <p:cNvSpPr txBox="1"/>
          <p:nvPr/>
        </p:nvSpPr>
        <p:spPr>
          <a:xfrm>
            <a:off x="6644936" y="2724621"/>
            <a:ext cx="2645545" cy="58477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dirty="0">
                <a:latin typeface="Myriad Condensed" panose="020B0800000000000000" pitchFamily="34" charset="0"/>
              </a:rPr>
              <a:t>(X2,Y2)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3C8E8A-CBE8-A5B7-2696-4DDCCC768789}"/>
              </a:ext>
            </a:extLst>
          </p:cNvPr>
          <p:cNvSpPr txBox="1"/>
          <p:nvPr/>
        </p:nvSpPr>
        <p:spPr>
          <a:xfrm>
            <a:off x="1455197" y="1782386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H1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FD8555-1622-6CD2-3155-36EB727A30CF}"/>
              </a:ext>
            </a:extLst>
          </p:cNvPr>
          <p:cNvSpPr txBox="1"/>
          <p:nvPr/>
        </p:nvSpPr>
        <p:spPr>
          <a:xfrm>
            <a:off x="10281079" y="3235970"/>
            <a:ext cx="5038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H2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651348-CF7B-3572-7462-D23E03B87EFF}"/>
              </a:ext>
            </a:extLst>
          </p:cNvPr>
          <p:cNvSpPr txBox="1"/>
          <p:nvPr/>
        </p:nvSpPr>
        <p:spPr>
          <a:xfrm>
            <a:off x="3800012" y="722229"/>
            <a:ext cx="55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W1</a:t>
            </a:r>
            <a:endParaRPr lang="en-GB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4553EB-658B-CC28-F6C7-9BE9AA460E3E}"/>
              </a:ext>
            </a:extLst>
          </p:cNvPr>
          <p:cNvSpPr txBox="1"/>
          <p:nvPr/>
        </p:nvSpPr>
        <p:spPr>
          <a:xfrm>
            <a:off x="7724681" y="1564504"/>
            <a:ext cx="6735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Myriad Condensed" panose="020B0800000000000000" pitchFamily="34" charset="0"/>
              </a:rPr>
              <a:t>W2</a:t>
            </a:r>
            <a:endParaRPr lang="en-GB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B1ABCD-6241-DEF0-1233-272AEA0A164F}"/>
              </a:ext>
            </a:extLst>
          </p:cNvPr>
          <p:cNvSpPr/>
          <p:nvPr/>
        </p:nvSpPr>
        <p:spPr>
          <a:xfrm>
            <a:off x="5777883" y="2091909"/>
            <a:ext cx="568172" cy="869145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1B15F5-54AB-EF7F-2E57-3482B62A5928}"/>
              </a:ext>
            </a:extLst>
          </p:cNvPr>
          <p:cNvSpPr txBox="1"/>
          <p:nvPr/>
        </p:nvSpPr>
        <p:spPr>
          <a:xfrm>
            <a:off x="5830595" y="1722576"/>
            <a:ext cx="462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yriad Condensed" panose="020B0800000000000000" pitchFamily="34" charset="0"/>
              </a:rPr>
              <a:t>OX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07A7EA-68CA-C626-DA74-EC0F90A2A26E}"/>
              </a:ext>
            </a:extLst>
          </p:cNvPr>
          <p:cNvSpPr txBox="1"/>
          <p:nvPr/>
        </p:nvSpPr>
        <p:spPr>
          <a:xfrm>
            <a:off x="6347163" y="2262366"/>
            <a:ext cx="462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yriad Condensed" panose="020B0800000000000000" pitchFamily="34" charset="0"/>
              </a:rPr>
              <a:t>OY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73870-D0DF-3CF2-DF08-CAB13225FE9A}"/>
              </a:ext>
            </a:extLst>
          </p:cNvPr>
          <p:cNvSpPr txBox="1"/>
          <p:nvPr/>
        </p:nvSpPr>
        <p:spPr>
          <a:xfrm>
            <a:off x="3962397" y="4580877"/>
            <a:ext cx="4199142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MS Gothic" panose="020B0609070205080204" pitchFamily="49" charset="-128"/>
                <a:ea typeface="MS Gothic" panose="020B0609070205080204" pitchFamily="49" charset="-128"/>
              </a:rPr>
              <a:t>delta = [abs(X1-X2),abs(Y1-Y2)]</a:t>
            </a:r>
            <a:br>
              <a:rPr lang="en-GB" dirty="0">
                <a:latin typeface="MS Gothic" panose="020B0609070205080204" pitchFamily="49" charset="-128"/>
                <a:ea typeface="MS Gothic" panose="020B0609070205080204" pitchFamily="49" charset="-128"/>
              </a:rPr>
            </a:br>
            <a:r>
              <a:rPr lang="en-GB" dirty="0">
                <a:latin typeface="MS Gothic" panose="020B0609070205080204" pitchFamily="49" charset="-128"/>
                <a:ea typeface="MS Gothic" panose="020B0609070205080204" pitchFamily="49" charset="-128"/>
              </a:rPr>
              <a:t>OX = (W1/2) + (W2/2) – </a:t>
            </a:r>
            <a:r>
              <a:rPr lang="en-GB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delta.x</a:t>
            </a:r>
            <a:r>
              <a:rPr lang="en-GB" dirty="0">
                <a:latin typeface="MS Gothic" panose="020B0609070205080204" pitchFamily="49" charset="-128"/>
                <a:ea typeface="MS Gothic" panose="020B0609070205080204" pitchFamily="49" charset="-128"/>
              </a:rPr>
              <a:t>;</a:t>
            </a:r>
          </a:p>
          <a:p>
            <a:r>
              <a:rPr lang="en-GB" dirty="0">
                <a:latin typeface="MS Gothic" panose="020B0609070205080204" pitchFamily="49" charset="-128"/>
                <a:ea typeface="MS Gothic" panose="020B0609070205080204" pitchFamily="49" charset="-128"/>
              </a:rPr>
              <a:t>OY = (H1/2) + (H2/2) – </a:t>
            </a:r>
            <a:r>
              <a:rPr lang="en-GB" dirty="0" err="1">
                <a:latin typeface="MS Gothic" panose="020B0609070205080204" pitchFamily="49" charset="-128"/>
                <a:ea typeface="MS Gothic" panose="020B0609070205080204" pitchFamily="49" charset="-128"/>
              </a:rPr>
              <a:t>delta.y</a:t>
            </a:r>
            <a:r>
              <a:rPr lang="en-GB" dirty="0">
                <a:latin typeface="MS Gothic" panose="020B0609070205080204" pitchFamily="49" charset="-128"/>
                <a:ea typeface="MS Gothic" panose="020B0609070205080204" pitchFamily="49" charset="-128"/>
              </a:rPr>
              <a:t>;</a:t>
            </a:r>
          </a:p>
          <a:p>
            <a:r>
              <a:rPr lang="en-GB" dirty="0">
                <a:latin typeface="MS Gothic" panose="020B0609070205080204" pitchFamily="49" charset="-128"/>
                <a:ea typeface="MS Gothic" panose="020B0609070205080204" pitchFamily="49" charset="-128"/>
              </a:rPr>
              <a:t>overlap = [OX,OY]</a:t>
            </a:r>
          </a:p>
        </p:txBody>
      </p:sp>
    </p:spTree>
    <p:extLst>
      <p:ext uri="{BB962C8B-B14F-4D97-AF65-F5344CB8AC3E}">
        <p14:creationId xmlns:p14="http://schemas.microsoft.com/office/powerpoint/2010/main" val="36162236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92299-45A3-338E-E691-859E47C9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5D1E2-72B1-29EA-C30C-A0AF4CC63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GB" sz="7200" dirty="0">
                <a:latin typeface="Myriad Condensed" panose="020B0800000000000000" pitchFamily="34" charset="0"/>
              </a:rPr>
              <a:t>Collision </a:t>
            </a:r>
            <a:r>
              <a:rPr lang="en-GB" sz="7200" dirty="0">
                <a:solidFill>
                  <a:srgbClr val="C00000"/>
                </a:solidFill>
                <a:latin typeface="Myriad Condensed" panose="020B0800000000000000" pitchFamily="34" charset="0"/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8803277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60058-4D69-C1A8-4EB2-3091232CF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800" dirty="0">
                <a:latin typeface="Myriad Condensed" panose="020B0800000000000000" pitchFamily="34" charset="0"/>
              </a:rPr>
              <a:t>Resolving Collisions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4EB21-16D3-285F-A64A-2B13CA557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4000" dirty="0">
                <a:latin typeface="Myriad Condensed" panose="020B0800000000000000" pitchFamily="34" charset="0"/>
              </a:rPr>
              <a:t>Now that we have </a:t>
            </a:r>
            <a:r>
              <a:rPr lang="en-GB" sz="4000" dirty="0">
                <a:solidFill>
                  <a:srgbClr val="C00000"/>
                </a:solidFill>
                <a:latin typeface="Myriad Condensed" panose="020B0800000000000000" pitchFamily="34" charset="0"/>
              </a:rPr>
              <a:t>detected</a:t>
            </a:r>
            <a:r>
              <a:rPr lang="en-GB" sz="4000" dirty="0">
                <a:latin typeface="Myriad Condensed" panose="020B0800000000000000" pitchFamily="34" charset="0"/>
              </a:rPr>
              <a:t> an AABB collision, what do we do ?</a:t>
            </a:r>
          </a:p>
          <a:p>
            <a:pPr>
              <a:lnSpc>
                <a:spcPct val="100000"/>
              </a:lnSpc>
            </a:pPr>
            <a:r>
              <a:rPr lang="en-GB" sz="4000" dirty="0">
                <a:solidFill>
                  <a:srgbClr val="C00000"/>
                </a:solidFill>
                <a:latin typeface="Myriad Condensed" panose="020B0800000000000000" pitchFamily="34" charset="0"/>
              </a:rPr>
              <a:t>Resolution</a:t>
            </a:r>
            <a:r>
              <a:rPr lang="en-GB" sz="4000" dirty="0">
                <a:latin typeface="Myriad Condensed" panose="020B0800000000000000" pitchFamily="34" charset="0"/>
              </a:rPr>
              <a:t> of collisions depends entirely on what the physics of your world should do</a:t>
            </a:r>
          </a:p>
          <a:p>
            <a:pPr>
              <a:lnSpc>
                <a:spcPct val="100000"/>
              </a:lnSpc>
            </a:pPr>
            <a:r>
              <a:rPr lang="en-GB" dirty="0">
                <a:highlight>
                  <a:srgbClr val="FFFF00"/>
                </a:highlight>
                <a:latin typeface="Myriad Condensed" panose="020B0800000000000000" pitchFamily="34" charset="0"/>
              </a:rPr>
              <a:t>For example: if the player collides with a tile, it should be “pushed out” to no overlap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D08E2-5AA8-3DCE-F25F-21F9B61303DA}"/>
              </a:ext>
            </a:extLst>
          </p:cNvPr>
          <p:cNvSpPr txBox="1"/>
          <p:nvPr/>
        </p:nvSpPr>
        <p:spPr>
          <a:xfrm>
            <a:off x="7105095" y="6176963"/>
            <a:ext cx="5086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Show you one way here for assignment 3</a:t>
            </a:r>
          </a:p>
        </p:txBody>
      </p:sp>
      <p:pic>
        <p:nvPicPr>
          <p:cNvPr id="1026" name="Picture 2" descr="Super Mario Flashback - 2D Mario Platforming with Gorgeous Pixel Art  Animation!">
            <a:extLst>
              <a:ext uri="{FF2B5EF4-FFF2-40B4-BE49-F238E27FC236}">
                <a16:creationId xmlns:a16="http://schemas.microsoft.com/office/drawing/2014/main" id="{FA06FF84-10FD-F130-A681-A547E5CF4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2058" y="38663"/>
            <a:ext cx="3056878" cy="171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653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D84D7-5FE1-B6CF-8B1A-C4ED8D589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Resolving Collisions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9B780C-633B-0E66-E4D5-81F1EAE5B6F6}"/>
              </a:ext>
            </a:extLst>
          </p:cNvPr>
          <p:cNvSpPr/>
          <p:nvPr/>
        </p:nvSpPr>
        <p:spPr>
          <a:xfrm>
            <a:off x="2343705" y="1926454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A0DD16-CDAA-004B-7F74-DB5B3D8DA2E3}"/>
              </a:ext>
            </a:extLst>
          </p:cNvPr>
          <p:cNvSpPr/>
          <p:nvPr/>
        </p:nvSpPr>
        <p:spPr>
          <a:xfrm>
            <a:off x="5931763" y="2752816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6F2C0-BD15-17AD-8D5E-3F0C78D2449B}"/>
              </a:ext>
            </a:extLst>
          </p:cNvPr>
          <p:cNvSpPr txBox="1"/>
          <p:nvPr/>
        </p:nvSpPr>
        <p:spPr>
          <a:xfrm>
            <a:off x="435006" y="5741550"/>
            <a:ext cx="488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FRAME 1 - rendering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DA3A2-EBB7-DFAD-E772-57DFC5336B56}"/>
              </a:ext>
            </a:extLst>
          </p:cNvPr>
          <p:cNvSpPr txBox="1"/>
          <p:nvPr/>
        </p:nvSpPr>
        <p:spPr>
          <a:xfrm>
            <a:off x="6660472" y="1090523"/>
            <a:ext cx="46933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ighlight>
                  <a:srgbClr val="C0C0C0"/>
                </a:highlight>
                <a:latin typeface="Myriad Condensed" panose="020B0800000000000000" pitchFamily="34" charset="0"/>
              </a:rPr>
              <a:t>Each Frame</a:t>
            </a:r>
          </a:p>
          <a:p>
            <a:pPr marL="457200" indent="-457200">
              <a:buFontTx/>
              <a:buChar char="-"/>
            </a:pPr>
            <a:r>
              <a:rPr lang="en-GB" dirty="0">
                <a:highlight>
                  <a:srgbClr val="C0C0C0"/>
                </a:highlight>
                <a:latin typeface="Myriad Condensed" panose="020B0800000000000000" pitchFamily="34" charset="0"/>
              </a:rPr>
              <a:t>Update Positions (physics and math)</a:t>
            </a:r>
          </a:p>
          <a:p>
            <a:pPr marL="457200" indent="-457200">
              <a:buFontTx/>
              <a:buChar char="-"/>
            </a:pPr>
            <a:r>
              <a:rPr lang="en-GB" dirty="0">
                <a:highlight>
                  <a:srgbClr val="C0C0C0"/>
                </a:highlight>
                <a:latin typeface="Myriad Condensed" panose="020B0800000000000000" pitchFamily="34" charset="0"/>
              </a:rPr>
              <a:t>Rendering</a:t>
            </a:r>
          </a:p>
        </p:txBody>
      </p:sp>
    </p:spTree>
    <p:extLst>
      <p:ext uri="{BB962C8B-B14F-4D97-AF65-F5344CB8AC3E}">
        <p14:creationId xmlns:p14="http://schemas.microsoft.com/office/powerpoint/2010/main" val="39526552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DFC93-8836-17C5-8B9C-C0E8808F4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01015-D075-DD53-9148-289A82F7E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Resolving Collisions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7FFCBD-E39F-B334-E1A6-7A4D131800B5}"/>
              </a:ext>
            </a:extLst>
          </p:cNvPr>
          <p:cNvSpPr/>
          <p:nvPr/>
        </p:nvSpPr>
        <p:spPr>
          <a:xfrm>
            <a:off x="2343705" y="1926454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D7EDBB-323A-2513-2253-B1590288E063}"/>
              </a:ext>
            </a:extLst>
          </p:cNvPr>
          <p:cNvSpPr/>
          <p:nvPr/>
        </p:nvSpPr>
        <p:spPr>
          <a:xfrm>
            <a:off x="5416858" y="2752816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E0718F-BE2A-8330-28E8-8ED8BFE94845}"/>
              </a:ext>
            </a:extLst>
          </p:cNvPr>
          <p:cNvSpPr txBox="1"/>
          <p:nvPr/>
        </p:nvSpPr>
        <p:spPr>
          <a:xfrm>
            <a:off x="435006" y="5741550"/>
            <a:ext cx="488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FRAME 2 </a:t>
            </a:r>
          </a:p>
        </p:txBody>
      </p:sp>
    </p:spTree>
    <p:extLst>
      <p:ext uri="{BB962C8B-B14F-4D97-AF65-F5344CB8AC3E}">
        <p14:creationId xmlns:p14="http://schemas.microsoft.com/office/powerpoint/2010/main" val="8375453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672C1-D9EA-2DC5-9131-41AB1F0C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958A-B3D0-48B7-CEAC-77A150DEC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Resolving Collisions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9F197-449D-09DC-62E2-0F72BCF4092E}"/>
              </a:ext>
            </a:extLst>
          </p:cNvPr>
          <p:cNvSpPr/>
          <p:nvPr/>
        </p:nvSpPr>
        <p:spPr>
          <a:xfrm>
            <a:off x="2343705" y="1926454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AA1D56-362C-ADC2-B5EB-FB64D51F597C}"/>
              </a:ext>
            </a:extLst>
          </p:cNvPr>
          <p:cNvSpPr/>
          <p:nvPr/>
        </p:nvSpPr>
        <p:spPr>
          <a:xfrm>
            <a:off x="4786543" y="2752816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77F4B-841E-CBE7-1076-37CA8FE99595}"/>
              </a:ext>
            </a:extLst>
          </p:cNvPr>
          <p:cNvSpPr txBox="1"/>
          <p:nvPr/>
        </p:nvSpPr>
        <p:spPr>
          <a:xfrm>
            <a:off x="435006" y="5741550"/>
            <a:ext cx="488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FRAME 3 </a:t>
            </a:r>
          </a:p>
        </p:txBody>
      </p:sp>
    </p:spTree>
    <p:extLst>
      <p:ext uri="{BB962C8B-B14F-4D97-AF65-F5344CB8AC3E}">
        <p14:creationId xmlns:p14="http://schemas.microsoft.com/office/powerpoint/2010/main" val="18898200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DD99A-A504-8264-6A21-EBF492CEA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2BE1-DA8E-7F4B-92AE-43560529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Resolving Collisions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075C89-26DA-B10F-7610-E98A89A25682}"/>
              </a:ext>
            </a:extLst>
          </p:cNvPr>
          <p:cNvSpPr/>
          <p:nvPr/>
        </p:nvSpPr>
        <p:spPr>
          <a:xfrm>
            <a:off x="2343705" y="1926454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EB31F2-EB25-53CD-8156-C059B3A28114}"/>
              </a:ext>
            </a:extLst>
          </p:cNvPr>
          <p:cNvSpPr/>
          <p:nvPr/>
        </p:nvSpPr>
        <p:spPr>
          <a:xfrm>
            <a:off x="4404802" y="2752816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49BEBA-B8EB-96BC-41E8-23CD05AB7059}"/>
              </a:ext>
            </a:extLst>
          </p:cNvPr>
          <p:cNvSpPr txBox="1"/>
          <p:nvPr/>
        </p:nvSpPr>
        <p:spPr>
          <a:xfrm>
            <a:off x="435006" y="5741550"/>
            <a:ext cx="488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FRAME 4 </a:t>
            </a:r>
          </a:p>
        </p:txBody>
      </p:sp>
    </p:spTree>
    <p:extLst>
      <p:ext uri="{BB962C8B-B14F-4D97-AF65-F5344CB8AC3E}">
        <p14:creationId xmlns:p14="http://schemas.microsoft.com/office/powerpoint/2010/main" val="5707408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EF551-98C7-AEBA-B036-F609008C1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D519F-F439-B0DD-7D7C-271D99BA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Resolving Collisions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AA42B3-6678-8AD5-D08C-005DB1AF8D1F}"/>
              </a:ext>
            </a:extLst>
          </p:cNvPr>
          <p:cNvSpPr/>
          <p:nvPr/>
        </p:nvSpPr>
        <p:spPr>
          <a:xfrm>
            <a:off x="2343705" y="1926454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405A42-78AA-15FA-DDF0-DF92075FBE06}"/>
              </a:ext>
            </a:extLst>
          </p:cNvPr>
          <p:cNvSpPr/>
          <p:nvPr/>
        </p:nvSpPr>
        <p:spPr>
          <a:xfrm>
            <a:off x="3774487" y="2752816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DBC47-42E9-B871-0E98-049C2C303D31}"/>
              </a:ext>
            </a:extLst>
          </p:cNvPr>
          <p:cNvSpPr txBox="1"/>
          <p:nvPr/>
        </p:nvSpPr>
        <p:spPr>
          <a:xfrm>
            <a:off x="435006" y="5741550"/>
            <a:ext cx="488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FRAME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90B10-650A-A69B-E264-29EDF2188C6D}"/>
              </a:ext>
            </a:extLst>
          </p:cNvPr>
          <p:cNvSpPr txBox="1"/>
          <p:nvPr/>
        </p:nvSpPr>
        <p:spPr>
          <a:xfrm>
            <a:off x="4822055" y="4120389"/>
            <a:ext cx="5911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Collision Detected</a:t>
            </a:r>
          </a:p>
          <a:p>
            <a:r>
              <a:rPr lang="en-GB" sz="3200" dirty="0">
                <a:latin typeface="Myriad Condensed" panose="020B0800000000000000" pitchFamily="34" charset="0"/>
              </a:rPr>
              <a:t>Resolution: </a:t>
            </a:r>
            <a:r>
              <a:rPr lang="en-GB" sz="2400" dirty="0" err="1">
                <a:solidFill>
                  <a:schemeClr val="accent4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Green.pos</a:t>
            </a:r>
            <a:r>
              <a:rPr lang="en-GB" sz="2400" dirty="0">
                <a:solidFill>
                  <a:schemeClr val="accent4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+= Overlap</a:t>
            </a:r>
            <a:endParaRPr lang="en-GB" sz="3200" dirty="0">
              <a:solidFill>
                <a:schemeClr val="accent4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05757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847A2-137F-2CEF-3535-AC0C6B34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7A0D-B101-A7EC-FF80-A459FECD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Resolving Collisions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CC2700-7050-FD80-B00F-086C4A6BF980}"/>
              </a:ext>
            </a:extLst>
          </p:cNvPr>
          <p:cNvSpPr/>
          <p:nvPr/>
        </p:nvSpPr>
        <p:spPr>
          <a:xfrm>
            <a:off x="2343705" y="1926454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194366-40B4-D361-51CC-981FE61D48BD}"/>
              </a:ext>
            </a:extLst>
          </p:cNvPr>
          <p:cNvSpPr/>
          <p:nvPr/>
        </p:nvSpPr>
        <p:spPr>
          <a:xfrm>
            <a:off x="4182860" y="2752816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A4BA10-8539-3FCC-F2A4-3D89E77390E5}"/>
              </a:ext>
            </a:extLst>
          </p:cNvPr>
          <p:cNvSpPr txBox="1"/>
          <p:nvPr/>
        </p:nvSpPr>
        <p:spPr>
          <a:xfrm>
            <a:off x="435006" y="5741550"/>
            <a:ext cx="488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FRAME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B26D1-A4B5-58E7-49AF-F17CEB9C3F8E}"/>
              </a:ext>
            </a:extLst>
          </p:cNvPr>
          <p:cNvSpPr txBox="1"/>
          <p:nvPr/>
        </p:nvSpPr>
        <p:spPr>
          <a:xfrm>
            <a:off x="6415596" y="2284757"/>
            <a:ext cx="56476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Both Frame 5</a:t>
            </a:r>
          </a:p>
          <a:p>
            <a:r>
              <a:rPr lang="en-GB" sz="3200" dirty="0">
                <a:latin typeface="Myriad Condensed" panose="020B0800000000000000" pitchFamily="34" charset="0"/>
              </a:rPr>
              <a:t>Both happened but user didn’t see it</a:t>
            </a:r>
          </a:p>
          <a:p>
            <a:r>
              <a:rPr lang="en-GB" sz="3200" dirty="0">
                <a:latin typeface="Myriad Condensed" panose="020B0800000000000000" pitchFamily="34" charset="0"/>
              </a:rPr>
              <a:t>All the user sees the result, but the collision happened</a:t>
            </a:r>
          </a:p>
        </p:txBody>
      </p:sp>
    </p:spTree>
    <p:extLst>
      <p:ext uri="{BB962C8B-B14F-4D97-AF65-F5344CB8AC3E}">
        <p14:creationId xmlns:p14="http://schemas.microsoft.com/office/powerpoint/2010/main" val="10125897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5FDCF-099D-9C38-2B9B-0364FA379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407E1-4978-6268-EBB2-90864E49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Resolving Collisions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9F13F-B40A-23CF-B4D9-3AD2140CCA1D}"/>
              </a:ext>
            </a:extLst>
          </p:cNvPr>
          <p:cNvSpPr/>
          <p:nvPr/>
        </p:nvSpPr>
        <p:spPr>
          <a:xfrm>
            <a:off x="2343705" y="1926454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A18B8-AF81-2143-9C41-E35DBFCC4FEF}"/>
              </a:ext>
            </a:extLst>
          </p:cNvPr>
          <p:cNvSpPr/>
          <p:nvPr/>
        </p:nvSpPr>
        <p:spPr>
          <a:xfrm>
            <a:off x="3818875" y="2752816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ABCDA5-204C-7541-E564-2F0E634A968F}"/>
              </a:ext>
            </a:extLst>
          </p:cNvPr>
          <p:cNvSpPr txBox="1"/>
          <p:nvPr/>
        </p:nvSpPr>
        <p:spPr>
          <a:xfrm>
            <a:off x="435006" y="5741550"/>
            <a:ext cx="488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FRAME 6</a:t>
            </a:r>
          </a:p>
        </p:txBody>
      </p:sp>
    </p:spTree>
    <p:extLst>
      <p:ext uri="{BB962C8B-B14F-4D97-AF65-F5344CB8AC3E}">
        <p14:creationId xmlns:p14="http://schemas.microsoft.com/office/powerpoint/2010/main" val="16965992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BF2C4-F84C-AFBE-5789-C09BF1A4F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07FA-1C16-6305-F703-AD5D7DE8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Resolving Collisions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D562F9-901B-C392-5879-1225465B6065}"/>
              </a:ext>
            </a:extLst>
          </p:cNvPr>
          <p:cNvSpPr/>
          <p:nvPr/>
        </p:nvSpPr>
        <p:spPr>
          <a:xfrm>
            <a:off x="2343705" y="1926454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8488CD-6A9F-2EFB-1B47-89C46734C82A}"/>
              </a:ext>
            </a:extLst>
          </p:cNvPr>
          <p:cNvSpPr/>
          <p:nvPr/>
        </p:nvSpPr>
        <p:spPr>
          <a:xfrm>
            <a:off x="4182860" y="2752816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9FDF2-784D-28C1-0F3E-16BF78FC2F22}"/>
              </a:ext>
            </a:extLst>
          </p:cNvPr>
          <p:cNvSpPr txBox="1"/>
          <p:nvPr/>
        </p:nvSpPr>
        <p:spPr>
          <a:xfrm>
            <a:off x="435006" y="5741550"/>
            <a:ext cx="488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FRAME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466235-A553-46D3-8690-2A20C96825C9}"/>
              </a:ext>
            </a:extLst>
          </p:cNvPr>
          <p:cNvSpPr txBox="1"/>
          <p:nvPr/>
        </p:nvSpPr>
        <p:spPr>
          <a:xfrm>
            <a:off x="4822055" y="4120389"/>
            <a:ext cx="5911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Collision Detected</a:t>
            </a:r>
          </a:p>
          <a:p>
            <a:r>
              <a:rPr lang="en-GB" sz="3200" dirty="0">
                <a:latin typeface="Myriad Condensed" panose="020B0800000000000000" pitchFamily="34" charset="0"/>
              </a:rPr>
              <a:t>Resolution: </a:t>
            </a:r>
            <a:r>
              <a:rPr lang="en-GB" sz="2400" dirty="0" err="1">
                <a:solidFill>
                  <a:schemeClr val="accent4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Green.pos</a:t>
            </a:r>
            <a:r>
              <a:rPr lang="en-GB" sz="2400" dirty="0">
                <a:solidFill>
                  <a:schemeClr val="accent4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+= Overlap</a:t>
            </a:r>
            <a:endParaRPr lang="en-GB" sz="3200" dirty="0">
              <a:solidFill>
                <a:schemeClr val="accent4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18591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29D3C-5893-262D-7CC3-9FF30AE5A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AF80-2A99-A1CA-9C94-B4BDF24B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Resolving Collisions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B4D782-855B-5E32-7A80-D0DE5F033AC6}"/>
              </a:ext>
            </a:extLst>
          </p:cNvPr>
          <p:cNvSpPr/>
          <p:nvPr/>
        </p:nvSpPr>
        <p:spPr>
          <a:xfrm>
            <a:off x="2343705" y="1926454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3D0BC-8DFC-2832-9DDF-D873F63F6F68}"/>
              </a:ext>
            </a:extLst>
          </p:cNvPr>
          <p:cNvSpPr/>
          <p:nvPr/>
        </p:nvSpPr>
        <p:spPr>
          <a:xfrm>
            <a:off x="3721220" y="2752816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DB542-BB69-9597-89C3-66B33FDBB448}"/>
              </a:ext>
            </a:extLst>
          </p:cNvPr>
          <p:cNvSpPr txBox="1"/>
          <p:nvPr/>
        </p:nvSpPr>
        <p:spPr>
          <a:xfrm>
            <a:off x="435006" y="5741550"/>
            <a:ext cx="488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FRAME 7</a:t>
            </a:r>
          </a:p>
        </p:txBody>
      </p:sp>
    </p:spTree>
    <p:extLst>
      <p:ext uri="{BB962C8B-B14F-4D97-AF65-F5344CB8AC3E}">
        <p14:creationId xmlns:p14="http://schemas.microsoft.com/office/powerpoint/2010/main" val="22984327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3BC8D-514E-C5B2-A291-C9D3358E1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C0A7B-C5F2-986F-973E-AF9336963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Resolving Collisions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4ADCA6-F312-B928-F524-DDE019E4DF73}"/>
              </a:ext>
            </a:extLst>
          </p:cNvPr>
          <p:cNvSpPr/>
          <p:nvPr/>
        </p:nvSpPr>
        <p:spPr>
          <a:xfrm>
            <a:off x="2343705" y="1926454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F34FE-7A01-ABD9-8347-014629B207C3}"/>
              </a:ext>
            </a:extLst>
          </p:cNvPr>
          <p:cNvSpPr/>
          <p:nvPr/>
        </p:nvSpPr>
        <p:spPr>
          <a:xfrm>
            <a:off x="4182859" y="2752816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FDDB2-AFFD-274B-8F6E-66A7D209080A}"/>
              </a:ext>
            </a:extLst>
          </p:cNvPr>
          <p:cNvSpPr txBox="1"/>
          <p:nvPr/>
        </p:nvSpPr>
        <p:spPr>
          <a:xfrm>
            <a:off x="435006" y="5741550"/>
            <a:ext cx="4882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FRAME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4772D-7D9C-0D9E-C4E2-C90F9FC048E1}"/>
              </a:ext>
            </a:extLst>
          </p:cNvPr>
          <p:cNvSpPr txBox="1"/>
          <p:nvPr/>
        </p:nvSpPr>
        <p:spPr>
          <a:xfrm>
            <a:off x="4822055" y="4120389"/>
            <a:ext cx="5911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Collision Detected</a:t>
            </a:r>
          </a:p>
          <a:p>
            <a:r>
              <a:rPr lang="en-GB" sz="3200" dirty="0">
                <a:latin typeface="Myriad Condensed" panose="020B0800000000000000" pitchFamily="34" charset="0"/>
              </a:rPr>
              <a:t>Resolution: </a:t>
            </a:r>
            <a:r>
              <a:rPr lang="en-GB" sz="2400" dirty="0" err="1">
                <a:solidFill>
                  <a:schemeClr val="accent4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Green.pos</a:t>
            </a:r>
            <a:r>
              <a:rPr lang="en-GB" sz="2400" dirty="0">
                <a:solidFill>
                  <a:schemeClr val="accent4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+= Overlap</a:t>
            </a:r>
            <a:endParaRPr lang="en-GB" sz="3200" dirty="0">
              <a:solidFill>
                <a:schemeClr val="accent4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43159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A936B-AEC9-973C-98D6-8347EC7F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3CD6-B9A8-69FA-8A52-1B2F3DB5B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62D46F-4A1E-8A82-9A7A-3D7ACAE59020}"/>
              </a:ext>
            </a:extLst>
          </p:cNvPr>
          <p:cNvSpPr/>
          <p:nvPr/>
        </p:nvSpPr>
        <p:spPr>
          <a:xfrm>
            <a:off x="3308412" y="2743200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EFD990-57C3-371D-B358-F1CB9D436A56}"/>
              </a:ext>
            </a:extLst>
          </p:cNvPr>
          <p:cNvSpPr/>
          <p:nvPr/>
        </p:nvSpPr>
        <p:spPr>
          <a:xfrm>
            <a:off x="4680008" y="1865049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8840F-ECBB-6201-B2BC-4FBBFEEA0171}"/>
              </a:ext>
            </a:extLst>
          </p:cNvPr>
          <p:cNvSpPr txBox="1"/>
          <p:nvPr/>
        </p:nvSpPr>
        <p:spPr>
          <a:xfrm>
            <a:off x="5598847" y="4132555"/>
            <a:ext cx="5911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Collision Detected</a:t>
            </a:r>
          </a:p>
          <a:p>
            <a:r>
              <a:rPr lang="en-GB" sz="3200" dirty="0">
                <a:latin typeface="Myriad Condensed" panose="020B0800000000000000" pitchFamily="34" charset="0"/>
              </a:rPr>
              <a:t>What to do ? Have Options</a:t>
            </a:r>
            <a:endParaRPr lang="en-GB" sz="3200" dirty="0">
              <a:solidFill>
                <a:schemeClr val="accent4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7A3BE-3120-C054-8627-EF33CF633767}"/>
              </a:ext>
            </a:extLst>
          </p:cNvPr>
          <p:cNvSpPr txBox="1"/>
          <p:nvPr/>
        </p:nvSpPr>
        <p:spPr>
          <a:xfrm>
            <a:off x="6968970" y="2061359"/>
            <a:ext cx="3870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Myriad Condensed" panose="020B0800000000000000" pitchFamily="34" charset="0"/>
              </a:rPr>
              <a:t>When we are overlapping at the corners</a:t>
            </a:r>
          </a:p>
        </p:txBody>
      </p:sp>
    </p:spTree>
    <p:extLst>
      <p:ext uri="{BB962C8B-B14F-4D97-AF65-F5344CB8AC3E}">
        <p14:creationId xmlns:p14="http://schemas.microsoft.com/office/powerpoint/2010/main" val="19825695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6596-FA12-CA19-9827-1003B64C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2D55-5CC4-4388-9E57-F4A77A3DD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9EB84-6C7B-2402-06DD-54EBD8D307A9}"/>
              </a:ext>
            </a:extLst>
          </p:cNvPr>
          <p:cNvSpPr/>
          <p:nvPr/>
        </p:nvSpPr>
        <p:spPr>
          <a:xfrm>
            <a:off x="3308412" y="2743200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D1597D-7C92-3E75-DA19-A2CD73CE6AD9}"/>
              </a:ext>
            </a:extLst>
          </p:cNvPr>
          <p:cNvSpPr/>
          <p:nvPr/>
        </p:nvSpPr>
        <p:spPr>
          <a:xfrm>
            <a:off x="6482175" y="1891682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517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11825-0F63-84E3-43D0-5DD4440D3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D8B7E-E69E-6E86-BCC9-4526BCFF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D8CAC-7480-789E-D9F2-4052646092ED}"/>
              </a:ext>
            </a:extLst>
          </p:cNvPr>
          <p:cNvSpPr/>
          <p:nvPr/>
        </p:nvSpPr>
        <p:spPr>
          <a:xfrm>
            <a:off x="3308412" y="2743200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AA4B95-4FC6-357C-1846-02186ACFC409}"/>
              </a:ext>
            </a:extLst>
          </p:cNvPr>
          <p:cNvSpPr/>
          <p:nvPr/>
        </p:nvSpPr>
        <p:spPr>
          <a:xfrm>
            <a:off x="5656551" y="1891682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7695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B073-AEF2-BE96-99BD-B6BD3291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62E2-9C91-D81B-C268-4E0DAC483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35A149-088C-42E6-2075-89FE9F3C150E}"/>
              </a:ext>
            </a:extLst>
          </p:cNvPr>
          <p:cNvSpPr/>
          <p:nvPr/>
        </p:nvSpPr>
        <p:spPr>
          <a:xfrm>
            <a:off x="3308412" y="2743200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C8AE53-7D88-DF1D-E555-05E5BF4A6D97}"/>
              </a:ext>
            </a:extLst>
          </p:cNvPr>
          <p:cNvSpPr/>
          <p:nvPr/>
        </p:nvSpPr>
        <p:spPr>
          <a:xfrm>
            <a:off x="5354710" y="1891682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4902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210C6-D062-E33D-4EA7-047AC610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BFDB-E3F3-956C-D01F-8A7E85E7B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91AD3F-B66F-0316-D38D-E62D8BF44FC2}"/>
              </a:ext>
            </a:extLst>
          </p:cNvPr>
          <p:cNvSpPr/>
          <p:nvPr/>
        </p:nvSpPr>
        <p:spPr>
          <a:xfrm>
            <a:off x="3308412" y="2743200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9E5F94-8C30-199A-8DC3-D9F6C7B7E933}"/>
              </a:ext>
            </a:extLst>
          </p:cNvPr>
          <p:cNvSpPr/>
          <p:nvPr/>
        </p:nvSpPr>
        <p:spPr>
          <a:xfrm>
            <a:off x="4839805" y="1891682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3436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64F09-63EF-2A4A-25EE-76E4B12D0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EC04-2A5F-5B32-7E73-96F3550D6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E20B1B-99D4-419B-0FA9-03D72BEF7FE0}"/>
              </a:ext>
            </a:extLst>
          </p:cNvPr>
          <p:cNvSpPr/>
          <p:nvPr/>
        </p:nvSpPr>
        <p:spPr>
          <a:xfrm>
            <a:off x="3308412" y="2743200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E42C9-DA96-01F2-3F23-4D96B198C184}"/>
              </a:ext>
            </a:extLst>
          </p:cNvPr>
          <p:cNvSpPr/>
          <p:nvPr/>
        </p:nvSpPr>
        <p:spPr>
          <a:xfrm>
            <a:off x="5146090" y="1599459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55BB2C-F41E-E086-86B0-5BEDB9AF2FDC}"/>
              </a:ext>
            </a:extLst>
          </p:cNvPr>
          <p:cNvSpPr txBox="1"/>
          <p:nvPr/>
        </p:nvSpPr>
        <p:spPr>
          <a:xfrm>
            <a:off x="5598847" y="4132555"/>
            <a:ext cx="5911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Case 1: Add Overlap</a:t>
            </a:r>
          </a:p>
          <a:p>
            <a:r>
              <a:rPr lang="en-GB" sz="3200" dirty="0">
                <a:solidFill>
                  <a:schemeClr val="accent4"/>
                </a:solidFill>
                <a:latin typeface="Myriad Condensed" panose="020B0800000000000000" pitchFamily="34" charset="0"/>
                <a:ea typeface="MS Gothic" panose="020B0609070205080204" pitchFamily="49" charset="-128"/>
              </a:rPr>
              <a:t>Problem: Bad Physics</a:t>
            </a:r>
            <a:endParaRPr lang="en-GB" sz="3200" dirty="0">
              <a:solidFill>
                <a:schemeClr val="accent4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12457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BE64E-83EC-8482-CCC0-61E0CA79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1E66-E5E7-2BBB-C261-7035E6CE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72216-3D7B-4039-370C-666D6C46959F}"/>
              </a:ext>
            </a:extLst>
          </p:cNvPr>
          <p:cNvSpPr/>
          <p:nvPr/>
        </p:nvSpPr>
        <p:spPr>
          <a:xfrm>
            <a:off x="3308412" y="2743200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76651D-5955-C4E7-379E-287FDC900820}"/>
              </a:ext>
            </a:extLst>
          </p:cNvPr>
          <p:cNvSpPr/>
          <p:nvPr/>
        </p:nvSpPr>
        <p:spPr>
          <a:xfrm>
            <a:off x="4515775" y="1617215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781AA-0DC0-C01F-7DD5-9A059A1DFB57}"/>
              </a:ext>
            </a:extLst>
          </p:cNvPr>
          <p:cNvSpPr txBox="1"/>
          <p:nvPr/>
        </p:nvSpPr>
        <p:spPr>
          <a:xfrm>
            <a:off x="5598847" y="4132555"/>
            <a:ext cx="5911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Case 2: Move Up Only</a:t>
            </a:r>
          </a:p>
          <a:p>
            <a:r>
              <a:rPr lang="en-GB" sz="3200" dirty="0">
                <a:solidFill>
                  <a:schemeClr val="accent4"/>
                </a:solidFill>
                <a:latin typeface="Myriad Condensed" panose="020B0800000000000000" pitchFamily="34" charset="0"/>
                <a:ea typeface="MS Gothic" panose="020B0609070205080204" pitchFamily="49" charset="-128"/>
              </a:rPr>
              <a:t>Problem: Came from Right</a:t>
            </a:r>
            <a:endParaRPr lang="en-GB" sz="3200" dirty="0">
              <a:solidFill>
                <a:schemeClr val="accent4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30628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5435-3E2A-BA81-13AA-593DCF027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DE53-9AAE-1AFE-E80F-C0B34113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140045-CA9B-3E94-5971-61841133AF91}"/>
              </a:ext>
            </a:extLst>
          </p:cNvPr>
          <p:cNvSpPr/>
          <p:nvPr/>
        </p:nvSpPr>
        <p:spPr>
          <a:xfrm>
            <a:off x="3308412" y="2743200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B895A1-A96D-95AB-F80C-9D6150E6F4CF}"/>
              </a:ext>
            </a:extLst>
          </p:cNvPr>
          <p:cNvSpPr/>
          <p:nvPr/>
        </p:nvSpPr>
        <p:spPr>
          <a:xfrm>
            <a:off x="5177161" y="2162452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D5C49-1B79-D317-189F-C8F2F64888F4}"/>
              </a:ext>
            </a:extLst>
          </p:cNvPr>
          <p:cNvSpPr txBox="1"/>
          <p:nvPr/>
        </p:nvSpPr>
        <p:spPr>
          <a:xfrm>
            <a:off x="5598847" y="4132555"/>
            <a:ext cx="5911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Case 2: Move Right Only</a:t>
            </a:r>
          </a:p>
          <a:p>
            <a:r>
              <a:rPr lang="en-GB" sz="3200" dirty="0">
                <a:solidFill>
                  <a:schemeClr val="accent4"/>
                </a:solidFill>
                <a:latin typeface="Myriad Condensed" panose="020B0800000000000000" pitchFamily="34" charset="0"/>
                <a:ea typeface="MS Gothic" panose="020B0609070205080204" pitchFamily="49" charset="-128"/>
              </a:rPr>
              <a:t>Probably Best “Physics”</a:t>
            </a:r>
            <a:endParaRPr lang="en-GB" sz="3200" dirty="0">
              <a:solidFill>
                <a:schemeClr val="accent4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881359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72A2-F158-5736-F705-AD1E8726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E40C-7928-C461-FC0C-B7DBA3B92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7D40DB-DC9D-D87B-575B-8FA4C4360A27}"/>
              </a:ext>
            </a:extLst>
          </p:cNvPr>
          <p:cNvSpPr/>
          <p:nvPr/>
        </p:nvSpPr>
        <p:spPr>
          <a:xfrm>
            <a:off x="3308412" y="2743200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CFDB7F-FAA3-8896-5ADC-5E89BAE48436}"/>
              </a:ext>
            </a:extLst>
          </p:cNvPr>
          <p:cNvSpPr/>
          <p:nvPr/>
        </p:nvSpPr>
        <p:spPr>
          <a:xfrm>
            <a:off x="6237477" y="2162452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6128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562A6-5CBB-D5EE-F8E8-C1A004317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5427E-A266-A5EE-F288-7B8CC6C13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77B690-E4CB-EE16-7520-AAE9BC842501}"/>
              </a:ext>
            </a:extLst>
          </p:cNvPr>
          <p:cNvSpPr/>
          <p:nvPr/>
        </p:nvSpPr>
        <p:spPr>
          <a:xfrm>
            <a:off x="3308412" y="2743200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7F2FCE-FF2F-FA53-15C9-C14C463DFEFB}"/>
              </a:ext>
            </a:extLst>
          </p:cNvPr>
          <p:cNvSpPr/>
          <p:nvPr/>
        </p:nvSpPr>
        <p:spPr>
          <a:xfrm>
            <a:off x="5673272" y="2162452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1496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D9EE-3ADB-5273-DCDE-370E0FF21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526D-24D7-E260-40EB-F49A9EB3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2E1AF-134C-1B09-7B38-075971D24140}"/>
              </a:ext>
            </a:extLst>
          </p:cNvPr>
          <p:cNvSpPr/>
          <p:nvPr/>
        </p:nvSpPr>
        <p:spPr>
          <a:xfrm>
            <a:off x="3308412" y="2743200"/>
            <a:ext cx="1837678" cy="27787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0E1FDE-E7E0-D366-EFED-D63EC8F146FA}"/>
              </a:ext>
            </a:extLst>
          </p:cNvPr>
          <p:cNvSpPr/>
          <p:nvPr/>
        </p:nvSpPr>
        <p:spPr>
          <a:xfrm>
            <a:off x="5186885" y="2162452"/>
            <a:ext cx="1837678" cy="112598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0460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E35FB-1BE0-52C6-BBFE-4C1A964F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3FBC-E29B-D56F-58FE-46F2BF8C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Detecting Collision Direction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CFC3A-5A98-C882-D8F7-FBF5481B24D1}"/>
              </a:ext>
            </a:extLst>
          </p:cNvPr>
          <p:cNvSpPr txBox="1"/>
          <p:nvPr/>
        </p:nvSpPr>
        <p:spPr>
          <a:xfrm>
            <a:off x="1332690" y="1896894"/>
            <a:ext cx="8667344" cy="39079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When detecting collisions in our game, they will first happen on a specific </a:t>
            </a:r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frame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The frame </a:t>
            </a:r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before</a:t>
            </a:r>
            <a:r>
              <a:rPr lang="en-GB" sz="2800" dirty="0">
                <a:latin typeface="Myriad Condensed" panose="020B0800000000000000" pitchFamily="34" charset="0"/>
              </a:rPr>
              <a:t> the collision is detected, there will be no collision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Could try to use overlap to detect which direction the movement came from ?</a:t>
            </a:r>
          </a:p>
        </p:txBody>
      </p:sp>
    </p:spTree>
    <p:extLst>
      <p:ext uri="{BB962C8B-B14F-4D97-AF65-F5344CB8AC3E}">
        <p14:creationId xmlns:p14="http://schemas.microsoft.com/office/powerpoint/2010/main" val="17769506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55B5F-7655-A22C-6225-6BF795088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6D45-EE28-2E85-9F29-2B23CB591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AD19D2-4F19-7BFC-95E6-312CFB7A4146}"/>
              </a:ext>
            </a:extLst>
          </p:cNvPr>
          <p:cNvSpPr txBox="1"/>
          <p:nvPr/>
        </p:nvSpPr>
        <p:spPr>
          <a:xfrm>
            <a:off x="1332690" y="1896894"/>
            <a:ext cx="8667344" cy="6763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latin typeface="Myriad Condensed" panose="020B0800000000000000" pitchFamily="34" charset="0"/>
              </a:rPr>
              <a:t>Use overlap to detect direction of movement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9A46B6-77D7-2769-3481-DA89F2FAED5F}"/>
              </a:ext>
            </a:extLst>
          </p:cNvPr>
          <p:cNvSpPr/>
          <p:nvPr/>
        </p:nvSpPr>
        <p:spPr>
          <a:xfrm>
            <a:off x="2801566" y="3710764"/>
            <a:ext cx="2385319" cy="17950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A75225-6EFA-F4E7-DBC9-041DC8071EEB}"/>
              </a:ext>
            </a:extLst>
          </p:cNvPr>
          <p:cNvSpPr/>
          <p:nvPr/>
        </p:nvSpPr>
        <p:spPr>
          <a:xfrm>
            <a:off x="4836688" y="3147236"/>
            <a:ext cx="2536877" cy="153225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5579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B8CC8-6FC7-CD50-DAA6-B25A4E2BC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08BAA-BF83-D492-B8B6-676471E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21F8B7-E48D-2ED4-25D6-A58BC2021E65}"/>
              </a:ext>
            </a:extLst>
          </p:cNvPr>
          <p:cNvSpPr/>
          <p:nvPr/>
        </p:nvSpPr>
        <p:spPr>
          <a:xfrm>
            <a:off x="2801566" y="3710764"/>
            <a:ext cx="2385319" cy="17950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7FAC4E-EA60-2947-4319-0928F9C3DEFA}"/>
              </a:ext>
            </a:extLst>
          </p:cNvPr>
          <p:cNvSpPr/>
          <p:nvPr/>
        </p:nvSpPr>
        <p:spPr>
          <a:xfrm>
            <a:off x="4934342" y="2025056"/>
            <a:ext cx="2536877" cy="153225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1424BB-E744-B532-0CAD-2168764F2BEE}"/>
              </a:ext>
            </a:extLst>
          </p:cNvPr>
          <p:cNvSpPr txBox="1"/>
          <p:nvPr/>
        </p:nvSpPr>
        <p:spPr>
          <a:xfrm>
            <a:off x="5584053" y="4116978"/>
            <a:ext cx="58592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Problem</a:t>
            </a:r>
            <a:r>
              <a:rPr lang="en-GB" sz="2800" dirty="0">
                <a:latin typeface="Myriad Condensed" panose="020B0800000000000000" pitchFamily="34" charset="0"/>
              </a:rPr>
              <a:t>: Could have come fast from </a:t>
            </a:r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Condensed" panose="020B0800000000000000" pitchFamily="34" charset="0"/>
              </a:rPr>
              <a:t>y</a:t>
            </a:r>
            <a:r>
              <a:rPr lang="en-GB" sz="2800" dirty="0">
                <a:latin typeface="Myriad Condensed" panose="020B0800000000000000" pitchFamily="34" charset="0"/>
              </a:rPr>
              <a:t> direction</a:t>
            </a:r>
          </a:p>
        </p:txBody>
      </p:sp>
    </p:spTree>
    <p:extLst>
      <p:ext uri="{BB962C8B-B14F-4D97-AF65-F5344CB8AC3E}">
        <p14:creationId xmlns:p14="http://schemas.microsoft.com/office/powerpoint/2010/main" val="17456281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9641B-8233-79FC-3720-87601623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43F1-E0DF-F84F-7FAB-881BAFA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5254BD-1208-3156-C32D-91344BA000CE}"/>
              </a:ext>
            </a:extLst>
          </p:cNvPr>
          <p:cNvSpPr/>
          <p:nvPr/>
        </p:nvSpPr>
        <p:spPr>
          <a:xfrm>
            <a:off x="2801566" y="3710764"/>
            <a:ext cx="2385319" cy="17950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503345-5F75-6427-F0AF-1B715EF13683}"/>
              </a:ext>
            </a:extLst>
          </p:cNvPr>
          <p:cNvSpPr/>
          <p:nvPr/>
        </p:nvSpPr>
        <p:spPr>
          <a:xfrm>
            <a:off x="5653433" y="2381107"/>
            <a:ext cx="2536877" cy="153225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CB3C2B-C594-3097-5D3C-67008794D007}"/>
              </a:ext>
            </a:extLst>
          </p:cNvPr>
          <p:cNvSpPr txBox="1"/>
          <p:nvPr/>
        </p:nvSpPr>
        <p:spPr>
          <a:xfrm>
            <a:off x="452760" y="1934394"/>
            <a:ext cx="58592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C00000"/>
                </a:solidFill>
                <a:latin typeface="Myriad Condensed" panose="020B0800000000000000" pitchFamily="34" charset="0"/>
              </a:rPr>
              <a:t>Problem</a:t>
            </a:r>
            <a:r>
              <a:rPr lang="en-GB" sz="2800" dirty="0">
                <a:latin typeface="Myriad Condensed" panose="020B0800000000000000" pitchFamily="34" charset="0"/>
              </a:rPr>
              <a:t>: Could have come fast from </a:t>
            </a:r>
            <a:r>
              <a:rPr lang="en-GB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Condensed" panose="020B0800000000000000" pitchFamily="34" charset="0"/>
              </a:rPr>
              <a:t>x</a:t>
            </a:r>
            <a:r>
              <a:rPr lang="en-GB" sz="2800" dirty="0">
                <a:latin typeface="Myriad Condensed" panose="020B0800000000000000" pitchFamily="34" charset="0"/>
              </a:rPr>
              <a:t> direction</a:t>
            </a:r>
          </a:p>
        </p:txBody>
      </p:sp>
    </p:spTree>
    <p:extLst>
      <p:ext uri="{BB962C8B-B14F-4D97-AF65-F5344CB8AC3E}">
        <p14:creationId xmlns:p14="http://schemas.microsoft.com/office/powerpoint/2010/main" val="23779278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502B3-E94E-6B3B-B412-872FA1D4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Detecting Collision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0F7D8-AA03-7626-D701-4B0F8AE9F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latin typeface="Myriad Condensed" panose="020B0800000000000000" pitchFamily="34" charset="0"/>
              </a:rPr>
              <a:t>When detecting collisions in our game, they will first happen on a specific frame</a:t>
            </a:r>
          </a:p>
          <a:p>
            <a:r>
              <a:rPr lang="en-GB" sz="3200" dirty="0">
                <a:latin typeface="Myriad Condensed" panose="020B0800000000000000" pitchFamily="34" charset="0"/>
              </a:rPr>
              <a:t>The frame before the collision is detected, there will be no collision</a:t>
            </a:r>
          </a:p>
          <a:p>
            <a:r>
              <a:rPr lang="en-GB" sz="3200" strike="sngStrike" dirty="0">
                <a:latin typeface="Myriad Condensed" panose="020B0800000000000000" pitchFamily="34" charset="0"/>
              </a:rPr>
              <a:t>Could try to use overlap to detect which direction the movement came from ?</a:t>
            </a:r>
          </a:p>
          <a:p>
            <a:r>
              <a:rPr lang="en-GB" sz="3200" dirty="0">
                <a:solidFill>
                  <a:srgbClr val="C00000"/>
                </a:solidFill>
                <a:latin typeface="Myriad Condensed" panose="020B0800000000000000" pitchFamily="34" charset="0"/>
              </a:rPr>
              <a:t>Use previous overlap to detect direction</a:t>
            </a:r>
          </a:p>
        </p:txBody>
      </p:sp>
    </p:spTree>
    <p:extLst>
      <p:ext uri="{BB962C8B-B14F-4D97-AF65-F5344CB8AC3E}">
        <p14:creationId xmlns:p14="http://schemas.microsoft.com/office/powerpoint/2010/main" val="13749658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DD67-FADB-4A08-F947-D594E3A9F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Using Previous 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E4967-F25D-7F49-ACE8-D943D8B9E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If previous frame </a:t>
            </a:r>
            <a:r>
              <a:rPr lang="en-GB" dirty="0" err="1">
                <a:solidFill>
                  <a:schemeClr val="accent5"/>
                </a:solidFill>
                <a:latin typeface="Myriad Condensed" panose="020B0800000000000000" pitchFamily="34" charset="0"/>
              </a:rPr>
              <a:t>overlap.y</a:t>
            </a:r>
            <a:r>
              <a:rPr lang="en-GB" dirty="0">
                <a:solidFill>
                  <a:srgbClr val="C00000"/>
                </a:solidFill>
                <a:latin typeface="Myriad Condensed" panose="020B0800000000000000" pitchFamily="34" charset="0"/>
              </a:rPr>
              <a:t> </a:t>
            </a:r>
            <a:r>
              <a:rPr lang="en-GB" dirty="0">
                <a:latin typeface="Myriad Condensed" panose="020B0800000000000000" pitchFamily="34" charset="0"/>
              </a:rPr>
              <a:t>&gt; 0, then movement came from the side</a:t>
            </a:r>
          </a:p>
          <a:p>
            <a:r>
              <a:rPr lang="en-GB" dirty="0">
                <a:latin typeface="Myriad Condensed" panose="020B0800000000000000" pitchFamily="34" charset="0"/>
              </a:rPr>
              <a:t>Resolve collision by pushing in x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5CB5B6-8997-74B9-55BE-D49CDC9B6250}"/>
              </a:ext>
            </a:extLst>
          </p:cNvPr>
          <p:cNvSpPr/>
          <p:nvPr/>
        </p:nvSpPr>
        <p:spPr>
          <a:xfrm>
            <a:off x="2712790" y="4381872"/>
            <a:ext cx="2385319" cy="179509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7CAB9B-6159-B797-647D-FDE8A2D8B3E7}"/>
              </a:ext>
            </a:extLst>
          </p:cNvPr>
          <p:cNvSpPr/>
          <p:nvPr/>
        </p:nvSpPr>
        <p:spPr>
          <a:xfrm>
            <a:off x="6245798" y="4001294"/>
            <a:ext cx="2536877" cy="1795091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5847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394D1-00AA-B160-5693-2776853DF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987A-A249-C896-CAA3-E3A939ED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Using Previous Overlap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78293-0985-CA66-3405-A8F615256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If previous frame </a:t>
            </a:r>
            <a:r>
              <a:rPr lang="en-GB" dirty="0" err="1">
                <a:solidFill>
                  <a:schemeClr val="accent5"/>
                </a:solidFill>
                <a:latin typeface="Myriad Condensed" panose="020B0800000000000000" pitchFamily="34" charset="0"/>
              </a:rPr>
              <a:t>overlap.x</a:t>
            </a:r>
            <a:r>
              <a:rPr lang="en-GB" dirty="0">
                <a:solidFill>
                  <a:srgbClr val="C00000"/>
                </a:solidFill>
                <a:latin typeface="Myriad Condensed" panose="020B0800000000000000" pitchFamily="34" charset="0"/>
              </a:rPr>
              <a:t> </a:t>
            </a:r>
            <a:r>
              <a:rPr lang="en-GB" dirty="0">
                <a:latin typeface="Myriad Condensed" panose="020B0800000000000000" pitchFamily="34" charset="0"/>
              </a:rPr>
              <a:t>&gt; 0, then movement came from the top or bottom</a:t>
            </a:r>
          </a:p>
          <a:p>
            <a:r>
              <a:rPr lang="en-GB" dirty="0">
                <a:latin typeface="Myriad Condensed" panose="020B0800000000000000" pitchFamily="34" charset="0"/>
              </a:rPr>
              <a:t>Resolve collision by pushing in y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66DB9E-CF49-AABB-A6E5-3052BEFCF14C}"/>
              </a:ext>
            </a:extLst>
          </p:cNvPr>
          <p:cNvSpPr/>
          <p:nvPr/>
        </p:nvSpPr>
        <p:spPr>
          <a:xfrm>
            <a:off x="3433283" y="4087143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BF7B83-F714-3626-E931-BE64163307DE}"/>
              </a:ext>
            </a:extLst>
          </p:cNvPr>
          <p:cNvSpPr/>
          <p:nvPr/>
        </p:nvSpPr>
        <p:spPr>
          <a:xfrm>
            <a:off x="4827561" y="3749098"/>
            <a:ext cx="2536877" cy="50439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1066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1D2D5-099F-DEE2-5440-CE93E471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DD29-02BB-03D6-1605-13312ADA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Top / Bottom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A1E70-018F-DA61-1C89-181E4BC0C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A collision came from the top if it had a previous </a:t>
            </a:r>
            <a:r>
              <a:rPr lang="en-GB" dirty="0" err="1">
                <a:latin typeface="Myriad Condensed" panose="020B0800000000000000" pitchFamily="34" charset="0"/>
              </a:rPr>
              <a:t>overlap.x</a:t>
            </a:r>
            <a:r>
              <a:rPr lang="en-GB" dirty="0">
                <a:latin typeface="Myriad Condensed" panose="020B0800000000000000" pitchFamily="34" charset="0"/>
              </a:rPr>
              <a:t> &gt; 0 and its y is higher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0B1930-F91D-E46F-A7B6-ACCF82CC9583}"/>
              </a:ext>
            </a:extLst>
          </p:cNvPr>
          <p:cNvSpPr/>
          <p:nvPr/>
        </p:nvSpPr>
        <p:spPr>
          <a:xfrm>
            <a:off x="3433283" y="4087143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104AC5-0944-D5C8-2659-29DE4EB56002}"/>
              </a:ext>
            </a:extLst>
          </p:cNvPr>
          <p:cNvSpPr/>
          <p:nvPr/>
        </p:nvSpPr>
        <p:spPr>
          <a:xfrm>
            <a:off x="5262567" y="3340725"/>
            <a:ext cx="2536877" cy="50439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92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A4111-7B14-8FAC-2610-9DF2535DE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8EB4E-72FC-9735-5D5F-843684BBD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Top / Bottom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F8C38-B90B-1F55-6047-2296B5FA9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A collision came from the top if it had a previous </a:t>
            </a:r>
            <a:r>
              <a:rPr lang="en-GB" dirty="0" err="1">
                <a:latin typeface="Myriad Condensed" panose="020B0800000000000000" pitchFamily="34" charset="0"/>
              </a:rPr>
              <a:t>overlap.x</a:t>
            </a:r>
            <a:r>
              <a:rPr lang="en-GB" dirty="0">
                <a:latin typeface="Myriad Condensed" panose="020B0800000000000000" pitchFamily="34" charset="0"/>
              </a:rPr>
              <a:t> &gt; 0 and its y is lower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D23381-8B23-47D0-DB1B-621F6C834D79}"/>
              </a:ext>
            </a:extLst>
          </p:cNvPr>
          <p:cNvSpPr/>
          <p:nvPr/>
        </p:nvSpPr>
        <p:spPr>
          <a:xfrm>
            <a:off x="3459916" y="3243764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77B2C7-D256-5739-549C-C22CFDA435A2}"/>
              </a:ext>
            </a:extLst>
          </p:cNvPr>
          <p:cNvSpPr/>
          <p:nvPr/>
        </p:nvSpPr>
        <p:spPr>
          <a:xfrm>
            <a:off x="5227056" y="4491089"/>
            <a:ext cx="2536877" cy="50439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1952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79B5C-D629-7713-38D9-6F807300E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BF7B-8C01-B411-8454-F905AC5C1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74CE4-8B41-F1A8-8EAB-2B02CF2A0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What if the previous frame had no overlap in either x or y direction ?</a:t>
            </a:r>
          </a:p>
          <a:p>
            <a:r>
              <a:rPr lang="en-GB" dirty="0">
                <a:latin typeface="Myriad Condensed" panose="020B0800000000000000" pitchFamily="34" charset="0"/>
              </a:rPr>
              <a:t>Must decide how to resolve collision based on previous position and / or overlap size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2F3568-E7C6-ECE8-A527-E75A57A739E1}"/>
              </a:ext>
            </a:extLst>
          </p:cNvPr>
          <p:cNvSpPr/>
          <p:nvPr/>
        </p:nvSpPr>
        <p:spPr>
          <a:xfrm>
            <a:off x="2225920" y="4531027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E9A650-17DF-33A5-C52D-D3574B288809}"/>
              </a:ext>
            </a:extLst>
          </p:cNvPr>
          <p:cNvSpPr/>
          <p:nvPr/>
        </p:nvSpPr>
        <p:spPr>
          <a:xfrm>
            <a:off x="7375453" y="3429000"/>
            <a:ext cx="2536877" cy="50439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3251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6984D-F06C-444B-6F7B-EF4004066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85408-8E54-18E2-3E7C-5361F5622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E4B19-015D-A822-145E-722BA826D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What if the previous frame had no overlap in either x or y direction ?</a:t>
            </a:r>
          </a:p>
          <a:p>
            <a:r>
              <a:rPr lang="en-GB" dirty="0">
                <a:latin typeface="Myriad Condensed" panose="020B0800000000000000" pitchFamily="34" charset="0"/>
              </a:rPr>
              <a:t>Must decide how to resolve collision based on previous position and / or overlap size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A2C1AB-526A-64A3-B109-5C8B1F09A156}"/>
              </a:ext>
            </a:extLst>
          </p:cNvPr>
          <p:cNvSpPr/>
          <p:nvPr/>
        </p:nvSpPr>
        <p:spPr>
          <a:xfrm>
            <a:off x="3282363" y="3892853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3A5C8C-940D-8F4E-187B-28C3FFBAB97E}"/>
              </a:ext>
            </a:extLst>
          </p:cNvPr>
          <p:cNvSpPr/>
          <p:nvPr/>
        </p:nvSpPr>
        <p:spPr>
          <a:xfrm>
            <a:off x="5253690" y="3640657"/>
            <a:ext cx="2536877" cy="50439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7701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33EDE-391F-888D-D931-6B8481EC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40DA8-4E8B-67E5-2927-CE367EBD7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3C723-DDFA-3E41-CD4A-3A48A7692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What if an entity </a:t>
            </a:r>
            <a:r>
              <a:rPr lang="en-GB" dirty="0" err="1">
                <a:latin typeface="Myriad Condensed" panose="020B0800000000000000" pitchFamily="34" charset="0"/>
              </a:rPr>
              <a:t>ovelaps</a:t>
            </a:r>
            <a:r>
              <a:rPr lang="en-GB" dirty="0">
                <a:latin typeface="Myriad Condensed" panose="020B0800000000000000" pitchFamily="34" charset="0"/>
              </a:rPr>
              <a:t> with multiple entities ? Ex: player moving near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F1B7AF-6858-A7D3-DDAC-8ABE82DFCF96}"/>
              </a:ext>
            </a:extLst>
          </p:cNvPr>
          <p:cNvSpPr/>
          <p:nvPr/>
        </p:nvSpPr>
        <p:spPr>
          <a:xfrm>
            <a:off x="2128265" y="3892853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E63D81-849D-D9D3-76CA-E21CF12C8F11}"/>
              </a:ext>
            </a:extLst>
          </p:cNvPr>
          <p:cNvSpPr/>
          <p:nvPr/>
        </p:nvSpPr>
        <p:spPr>
          <a:xfrm>
            <a:off x="4916339" y="3628778"/>
            <a:ext cx="2536877" cy="134859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60ED7E-71F7-62EF-C861-49ACB49BA774}"/>
              </a:ext>
            </a:extLst>
          </p:cNvPr>
          <p:cNvSpPr/>
          <p:nvPr/>
        </p:nvSpPr>
        <p:spPr>
          <a:xfrm>
            <a:off x="2128266" y="3018778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37794-03E8-4BD5-587F-DB858D3CE596}"/>
              </a:ext>
            </a:extLst>
          </p:cNvPr>
          <p:cNvSpPr/>
          <p:nvPr/>
        </p:nvSpPr>
        <p:spPr>
          <a:xfrm>
            <a:off x="2128265" y="4766928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5285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33ACC-D3C0-02EC-410F-24B15BE6C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2ADF3-B161-4358-55B5-C2D2AAB9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A615D-8D63-D477-756A-339591C19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Order of collision checks may decide which resolution occurs, can be tricky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716042-7B4F-DEF5-9D3A-30716AD10EF7}"/>
              </a:ext>
            </a:extLst>
          </p:cNvPr>
          <p:cNvSpPr/>
          <p:nvPr/>
        </p:nvSpPr>
        <p:spPr>
          <a:xfrm>
            <a:off x="2128265" y="3892853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06F2A9-691F-1FB0-AA5C-25C6DB94D5C3}"/>
              </a:ext>
            </a:extLst>
          </p:cNvPr>
          <p:cNvSpPr/>
          <p:nvPr/>
        </p:nvSpPr>
        <p:spPr>
          <a:xfrm>
            <a:off x="4128376" y="3725169"/>
            <a:ext cx="2536877" cy="134859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E0EBDB-DD6A-A4BB-E4B0-B67C78A2D303}"/>
              </a:ext>
            </a:extLst>
          </p:cNvPr>
          <p:cNvSpPr/>
          <p:nvPr/>
        </p:nvSpPr>
        <p:spPr>
          <a:xfrm>
            <a:off x="2128266" y="3018778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0B9AAE-D721-4782-FAA6-7BAC1474C835}"/>
              </a:ext>
            </a:extLst>
          </p:cNvPr>
          <p:cNvSpPr/>
          <p:nvPr/>
        </p:nvSpPr>
        <p:spPr>
          <a:xfrm>
            <a:off x="2128265" y="4766928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8610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7F18-85F5-5BA5-5876-D378AEC65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1F744-99A6-70FA-F3AF-6D5116E03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Tricky Resolution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DAFBF-E8EA-7E10-8AEC-FF2814EBE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The “previous overlap” method discussed here usually resolves this case using previous position only does not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353C60-9989-93F2-09BA-1B2D6C448C03}"/>
              </a:ext>
            </a:extLst>
          </p:cNvPr>
          <p:cNvSpPr/>
          <p:nvPr/>
        </p:nvSpPr>
        <p:spPr>
          <a:xfrm>
            <a:off x="2128265" y="3892853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FE3E14-DFB5-AF4E-9FA6-52CA6306E6A6}"/>
              </a:ext>
            </a:extLst>
          </p:cNvPr>
          <p:cNvSpPr/>
          <p:nvPr/>
        </p:nvSpPr>
        <p:spPr>
          <a:xfrm>
            <a:off x="4128376" y="3725169"/>
            <a:ext cx="2536877" cy="134859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07989E-4B6E-2129-6679-47A2B205AF90}"/>
              </a:ext>
            </a:extLst>
          </p:cNvPr>
          <p:cNvSpPr/>
          <p:nvPr/>
        </p:nvSpPr>
        <p:spPr>
          <a:xfrm>
            <a:off x="2128266" y="3018778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0BCC7E-BC64-3052-68CE-DEE721B76293}"/>
              </a:ext>
            </a:extLst>
          </p:cNvPr>
          <p:cNvSpPr/>
          <p:nvPr/>
        </p:nvSpPr>
        <p:spPr>
          <a:xfrm>
            <a:off x="2128265" y="4766928"/>
            <a:ext cx="2385319" cy="82044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97945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CE2EB-78D6-D6D0-E152-BFFE9E39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678E7-E6E0-AF53-91BC-FAADB4716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Important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90352-A83D-7C38-546C-8A0B002BE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Myriad Condensed" panose="020B0800000000000000" pitchFamily="34" charset="0"/>
              </a:rPr>
              <a:t>All collision resolution discussed here is for the simple case of avoiding overlap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Useful for: walking on tiles, not being able to pass through tiles, bullet hits entity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Many other kinds of collision resolution:</a:t>
            </a:r>
          </a:p>
          <a:p>
            <a:pPr lvl="1"/>
            <a:r>
              <a:rPr lang="en-GB" sz="3200" dirty="0">
                <a:latin typeface="Myriad Condensed" panose="020B0800000000000000" pitchFamily="34" charset="0"/>
              </a:rPr>
              <a:t>Kinematic object elastic / inelastic collision</a:t>
            </a:r>
          </a:p>
          <a:p>
            <a:pPr lvl="1"/>
            <a:r>
              <a:rPr lang="en-GB" sz="3200" dirty="0">
                <a:latin typeface="Myriad Condensed" panose="020B0800000000000000" pitchFamily="34" charset="0"/>
              </a:rPr>
              <a:t>Physics simulators with mass / forces</a:t>
            </a:r>
          </a:p>
        </p:txBody>
      </p:sp>
    </p:spTree>
    <p:extLst>
      <p:ext uri="{BB962C8B-B14F-4D97-AF65-F5344CB8AC3E}">
        <p14:creationId xmlns:p14="http://schemas.microsoft.com/office/powerpoint/2010/main" val="210007267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D8E7C-03AB-836B-4B52-1EDF183F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C338E-B2A7-1C97-9B20-28722FCDB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Important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8FA4-F049-175A-D8B5-9481652F5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Myriad Condensed" panose="020B0800000000000000" pitchFamily="34" charset="0"/>
              </a:rPr>
              <a:t>Super Mario Bros collisions operate slightly differently than presented 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Consider the base of Mario jumping on top of an enemy, how is that detected ?</a:t>
            </a:r>
          </a:p>
          <a:p>
            <a:r>
              <a:rPr lang="en-GB" sz="3600" dirty="0">
                <a:latin typeface="Myriad Condensed" panose="020B0800000000000000" pitchFamily="34" charset="0"/>
              </a:rPr>
              <a:t>Same AABB overlap is used, however, Mario kills the enemy if he is moving downwards (with x-direction ignored) </a:t>
            </a:r>
            <a:endParaRPr lang="en-GB" sz="3200" dirty="0">
              <a:latin typeface="Myriad Condensed" panose="020B080000000000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08620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1AAF3-20C4-254D-E13C-8EC36A6FE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788C6-FFFF-347D-DF1F-C683A79BD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Myriad Condensed" panose="020B0800000000000000" pitchFamily="34" charset="0"/>
              </a:rPr>
              <a:t>Important Note</a:t>
            </a:r>
          </a:p>
        </p:txBody>
      </p:sp>
      <p:pic>
        <p:nvPicPr>
          <p:cNvPr id="7" name="Picture 6" descr="A pixelated video game characters&#10;&#10;AI-generated content may be incorrect.">
            <a:extLst>
              <a:ext uri="{FF2B5EF4-FFF2-40B4-BE49-F238E27FC236}">
                <a16:creationId xmlns:a16="http://schemas.microsoft.com/office/drawing/2014/main" id="{B391B70A-48E3-F389-7960-C503403E5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1146"/>
            <a:ext cx="12192000" cy="451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88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2096</TotalTime>
  <Words>1810</Words>
  <Application>Microsoft Office PowerPoint</Application>
  <PresentationFormat>Widescreen</PresentationFormat>
  <Paragraphs>321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9" baseType="lpstr">
      <vt:lpstr>MS Gothic</vt:lpstr>
      <vt:lpstr>Aptos</vt:lpstr>
      <vt:lpstr>Aptos Display</vt:lpstr>
      <vt:lpstr>Arial</vt:lpstr>
      <vt:lpstr>Consolas</vt:lpstr>
      <vt:lpstr>Myriad Condensed</vt:lpstr>
      <vt:lpstr>Office Theme</vt:lpstr>
      <vt:lpstr>PowerPoint Presentation</vt:lpstr>
      <vt:lpstr>Collisions in Games</vt:lpstr>
      <vt:lpstr>Assumptions for Slides</vt:lpstr>
      <vt:lpstr>Collision Detection Problems</vt:lpstr>
      <vt:lpstr>Collision Detection Problems</vt:lpstr>
      <vt:lpstr>Collision Detection Problems</vt:lpstr>
      <vt:lpstr>Collision Detection Problems</vt:lpstr>
      <vt:lpstr>Entity Bounding Shapes</vt:lpstr>
      <vt:lpstr>Entity Bounding Shape Example</vt:lpstr>
      <vt:lpstr>Entity Bounding Shape Example</vt:lpstr>
      <vt:lpstr>2D Bounding Shapes</vt:lpstr>
      <vt:lpstr>Bounding Box Size</vt:lpstr>
      <vt:lpstr>Bounding Box Size</vt:lpstr>
      <vt:lpstr>Bounding Box Size</vt:lpstr>
      <vt:lpstr>Bounding Box Size</vt:lpstr>
      <vt:lpstr>PowerPoint Presentation</vt:lpstr>
      <vt:lpstr>Axis Aligned Bounding Boxes</vt:lpstr>
      <vt:lpstr>Axis Aligned Bounding Boxes</vt:lpstr>
      <vt:lpstr>Axis Aligned Bounding Boxes</vt:lpstr>
      <vt:lpstr>PowerPoint Presentation</vt:lpstr>
      <vt:lpstr>Point Inside AABB</vt:lpstr>
      <vt:lpstr>Point Inside AABB</vt:lpstr>
      <vt:lpstr>Point Inside AABB</vt:lpstr>
      <vt:lpstr>AABB Intersection</vt:lpstr>
      <vt:lpstr>AABB Horizontal Overlap</vt:lpstr>
      <vt:lpstr>PowerPoint Presentation</vt:lpstr>
      <vt:lpstr>AABB Vertical Overlap</vt:lpstr>
      <vt:lpstr>PowerPoint Presentation</vt:lpstr>
      <vt:lpstr>PowerPoint Presentation</vt:lpstr>
      <vt:lpstr>Centered AABB Intersection</vt:lpstr>
      <vt:lpstr>Centered AABB Intersection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Resolving Collisions</vt:lpstr>
      <vt:lpstr>Resolving Collisions</vt:lpstr>
      <vt:lpstr>Resolving Collisions</vt:lpstr>
      <vt:lpstr>Resolving Collisions</vt:lpstr>
      <vt:lpstr>Resolving Collisions</vt:lpstr>
      <vt:lpstr>Resolving Collisions</vt:lpstr>
      <vt:lpstr>Resolving Collisions</vt:lpstr>
      <vt:lpstr>Resolving Collisions</vt:lpstr>
      <vt:lpstr>Resolving Collisions</vt:lpstr>
      <vt:lpstr>Resolving Collisions</vt:lpstr>
      <vt:lpstr>Resolving Collisions</vt:lpstr>
      <vt:lpstr>Tricky Resolution Cases</vt:lpstr>
      <vt:lpstr>Tricky Resolution Cases</vt:lpstr>
      <vt:lpstr>Tricky Resolution Cases</vt:lpstr>
      <vt:lpstr>Tricky Resolution Cases</vt:lpstr>
      <vt:lpstr>Tricky Resolution Cases</vt:lpstr>
      <vt:lpstr>Tricky Resolution Cases</vt:lpstr>
      <vt:lpstr>Tricky Resolution Cases</vt:lpstr>
      <vt:lpstr>Tricky Resolution Cases</vt:lpstr>
      <vt:lpstr>Tricky Resolution Cases</vt:lpstr>
      <vt:lpstr>Tricky Resolution Cases</vt:lpstr>
      <vt:lpstr>Tricky Resolution Cases</vt:lpstr>
      <vt:lpstr>Detecting Collision Direction</vt:lpstr>
      <vt:lpstr>Tricky Resolution Cases</vt:lpstr>
      <vt:lpstr>Tricky Resolution Cases</vt:lpstr>
      <vt:lpstr>Tricky Resolution Cases</vt:lpstr>
      <vt:lpstr>Detecting Collision Direction</vt:lpstr>
      <vt:lpstr>Using Previous Overlap</vt:lpstr>
      <vt:lpstr>Using Previous Overlap</vt:lpstr>
      <vt:lpstr>Top / Bottom Detection</vt:lpstr>
      <vt:lpstr>Top / Bottom Detection</vt:lpstr>
      <vt:lpstr>Tricky Resolution Case</vt:lpstr>
      <vt:lpstr>Tricky Resolution Case</vt:lpstr>
      <vt:lpstr>Tricky Resolution Case</vt:lpstr>
      <vt:lpstr>Tricky Resolution Case</vt:lpstr>
      <vt:lpstr>Tricky Resolution Case</vt:lpstr>
      <vt:lpstr>Important Note</vt:lpstr>
      <vt:lpstr>Important Note</vt:lpstr>
      <vt:lpstr>Important 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Fajer</dc:creator>
  <cp:lastModifiedBy>Mohammed Fajer</cp:lastModifiedBy>
  <cp:revision>9</cp:revision>
  <dcterms:created xsi:type="dcterms:W3CDTF">2025-12-09T21:24:12Z</dcterms:created>
  <dcterms:modified xsi:type="dcterms:W3CDTF">2025-12-17T01:16:43Z</dcterms:modified>
</cp:coreProperties>
</file>