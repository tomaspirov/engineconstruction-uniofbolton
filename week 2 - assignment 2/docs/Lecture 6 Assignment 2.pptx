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3" r:id="rId23"/>
    <p:sldId id="279" r:id="rId24"/>
    <p:sldId id="280" r:id="rId25"/>
    <p:sldId id="281" r:id="rId26"/>
    <p:sldId id="282" r:id="rId27"/>
    <p:sldId id="283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8" autoAdjust="0"/>
    <p:restoredTop sz="94660"/>
  </p:normalViewPr>
  <p:slideViewPr>
    <p:cSldViewPr snapToGrid="0">
      <p:cViewPr varScale="1">
        <p:scale>
          <a:sx n="98" d="100"/>
          <a:sy n="98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39179-3DF6-4312-8FD3-8FE997368AB5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9939F-D4E2-4E8F-8239-F27E735DC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40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9939F-D4E2-4E8F-8239-F27E735DC1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80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25B3-C8D4-24CE-6C20-8C921189F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6E717-F9A0-E49C-A773-7F505C736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63F26-1977-1999-9D61-14C44BD2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65E3-785C-2B2F-5F32-4A8114F6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9FA06-EF74-9FB9-C872-DBCD9E54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36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FEED-F139-771E-C149-9652FD6E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AA6F2-C5C9-A643-6254-247F0B1E0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360D5-DD67-4FB9-BA3D-A109A56C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AA84-18DA-13FB-6D28-BB6ECFE1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7BB5D-17E1-486F-2CFD-970ACDCC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36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8231-7F36-209C-D80A-2551FF13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9894-E244-7B6A-D419-6E5385B9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B3BF-C782-AD05-BBBF-A0AB2FDF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3E4F-46A6-7A82-D422-1566086B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2B013-19D2-FFFD-476F-5341F935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4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22C0-8B24-C6CA-DA86-FD31D2A7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447FE-7EE1-BEA5-0D2C-3EADDCC55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9DB8C-DE84-E62D-BCA7-B375FFBAB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ED559-C0A8-B82A-6F8A-00D85103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607D0-A810-3007-061E-907496F7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A0FEC-691C-F633-D221-6AED3325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47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4602-C4DA-9B95-F71A-C80D47E5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15C7-DC93-F5DE-59ED-2C0C0D9FC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5D294-088F-781F-4ADA-EDBF4BD15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5E629-5560-F24C-BB35-A534096A3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2963C-F670-5706-DA77-36E10112E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C1FBD-0CBF-A77E-3CF5-459F5DD0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FB5BD-91F1-8BCC-02AB-1894943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947D8-2224-F02A-6579-A9E5DBA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2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3FB5-54BD-AD93-3D5F-F6F1E10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00130-A62E-A0DD-C0FE-EDB2D46E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3FD1A-9B01-BCC7-080D-2AD93707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6833E-4831-E562-0978-5E88B16A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2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ED774-B6CC-4D55-C830-F9BB4E64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7FBC2-81EE-086D-E7EB-5A452C7F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C9AE0-BEB1-7558-53B2-E6069B98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2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B4D0-F565-64B8-E998-2402F558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4EED-DFB4-1F1C-E78E-491A91E95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B21BC-F924-9B7C-FBF5-D14389C1C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44672-22AB-5F3C-2CF8-1DC78626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D2507-F2C6-E6F8-5DB7-30A108321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6617A-972F-CBF0-0BB7-3626F4D2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92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7752-A671-8C7C-0A2E-DF9F68E9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9B4F1C-443C-73C8-37BA-DD1F86803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78A38-CAA2-74E3-715A-A79FF171C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48FEC-08CB-1169-1096-8FB7D427E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24BD7-E10A-094B-19A5-FA90C378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59859-00B6-F95F-5DD8-94BF2C38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5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8F9D-2B0D-D28C-F53B-29FFC094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DB9F6-D97B-9C20-7BD5-D56556DAE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38D7C-A554-6335-9743-742847C2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FF7F-0483-5652-EDB8-BF396CF4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1CF6-59F8-617D-F612-87EA9F59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7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6AE69-560D-828B-C5A3-7A5AC89E2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B6D5A-F2D2-45DF-43F0-60A9B5993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9FF2B-4A1B-F258-B8E2-B26A0785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AB57-696C-A141-944A-57535B93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0286-D771-FC84-C75F-BE7AC8E8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7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122F9-2CCE-F296-1269-2DB0F09E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FF665-99B6-47A0-2E07-D8EE3006E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A3D3-939A-F062-5C40-43FD6056B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D56E4-7518-4601-A23B-93F4A3EF0B7F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7144D-7FC2-8793-F6D6-5FB86D41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E04A-54B9-6BA9-F11F-5B1B48AC0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2474E-FF8B-44F6-90DF-29B1009F14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10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BC6E02-DE37-DA18-7849-334DE5902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03" y="376990"/>
            <a:ext cx="5377841" cy="173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C160CE-48EA-F2CA-908A-C1368D98F2F4}"/>
              </a:ext>
            </a:extLst>
          </p:cNvPr>
          <p:cNvSpPr txBox="1"/>
          <p:nvPr/>
        </p:nvSpPr>
        <p:spPr>
          <a:xfrm>
            <a:off x="981207" y="1513419"/>
            <a:ext cx="5682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GAP 5503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Engine Construction</a:t>
            </a:r>
          </a:p>
          <a:p>
            <a:endParaRPr lang="en-GB" sz="3600" dirty="0">
              <a:latin typeface="Myriad Condensed" panose="020B0800000000000000" pitchFamily="34" charset="0"/>
            </a:endParaRPr>
          </a:p>
          <a:p>
            <a:endParaRPr lang="en-GB" sz="3600" dirty="0">
              <a:latin typeface="Myriad Condensed" panose="020B0800000000000000" pitchFamily="34" charset="0"/>
            </a:endParaRPr>
          </a:p>
          <a:p>
            <a:r>
              <a:rPr lang="en-GB" sz="3600" dirty="0">
                <a:solidFill>
                  <a:srgbClr val="C00000"/>
                </a:solidFill>
                <a:latin typeface="Myriad Condensed" panose="020B0800000000000000" pitchFamily="34" charset="0"/>
              </a:rPr>
              <a:t>Lecture 6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A2 Engine Architecture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Assignment 2 Explained (in-class)</a:t>
            </a:r>
          </a:p>
        </p:txBody>
      </p:sp>
    </p:spTree>
    <p:extLst>
      <p:ext uri="{BB962C8B-B14F-4D97-AF65-F5344CB8AC3E}">
        <p14:creationId xmlns:p14="http://schemas.microsoft.com/office/powerpoint/2010/main" val="94014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75E5-C463-2385-B500-E3A2FDBB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Engine Architecture Progression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2C9C4-DD79-26F8-0B3A-9D4A5F83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Assignment 1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Getting used to C++ / API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All functionality in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main.cpp</a:t>
            </a:r>
          </a:p>
          <a:p>
            <a:pPr lvl="1"/>
            <a:endParaRPr lang="en-GB" sz="2800" dirty="0">
              <a:latin typeface="Myriad Condensed" panose="020B0800000000000000" pitchFamily="34" charset="0"/>
            </a:endParaRPr>
          </a:p>
          <a:p>
            <a:r>
              <a:rPr lang="en-GB" sz="3200" dirty="0">
                <a:latin typeface="Myriad Condensed" panose="020B0800000000000000" pitchFamily="34" charset="0"/>
              </a:rPr>
              <a:t>Assignment 2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Separation of functionality into classes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Write our own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Vec2</a:t>
            </a:r>
            <a:r>
              <a:rPr lang="en-GB" sz="2800" dirty="0">
                <a:latin typeface="Myriad Condensed" panose="020B0800000000000000" pitchFamily="34" charset="0"/>
              </a:rPr>
              <a:t> class for 2D game math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Appearance of ECS classes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EntityManager handles all Entity data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ECS Systems functionality in </a:t>
            </a:r>
            <a:r>
              <a:rPr lang="en-GB" sz="2800" dirty="0" err="1">
                <a:solidFill>
                  <a:srgbClr val="C00000"/>
                </a:solidFill>
                <a:latin typeface="Myriad Condensed" panose="020B0800000000000000" pitchFamily="34" charset="0"/>
              </a:rPr>
              <a:t>Game.h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 </a:t>
            </a:r>
            <a:r>
              <a:rPr lang="en-GB" sz="2800" dirty="0">
                <a:latin typeface="Myriad Condensed" panose="020B0800000000000000" pitchFamily="34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492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D36C-C629-5EDB-0BFD-CEF7191D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A2 Engine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A1BF-7DFF-F963-DE37-78DF02741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 err="1">
                <a:latin typeface="Myriad Condensed" panose="020B0800000000000000" pitchFamily="34" charset="0"/>
              </a:rPr>
              <a:t>GameEngine</a:t>
            </a:r>
            <a:endParaRPr lang="en-GB" sz="4000" dirty="0">
              <a:latin typeface="Myriad Condensed" panose="020B0800000000000000" pitchFamily="34" charset="0"/>
            </a:endParaRPr>
          </a:p>
          <a:p>
            <a:pPr marL="457200" lvl="1" indent="0">
              <a:buNone/>
            </a:pPr>
            <a:r>
              <a:rPr lang="en-GB" sz="4000" dirty="0">
                <a:latin typeface="Myriad Condensed" panose="020B0800000000000000" pitchFamily="34" charset="0"/>
              </a:rPr>
              <a:t>&gt;Systems</a:t>
            </a:r>
          </a:p>
          <a:p>
            <a:pPr marL="457200" lvl="1" indent="0">
              <a:buNone/>
            </a:pPr>
            <a:r>
              <a:rPr lang="en-GB" sz="4000" dirty="0">
                <a:latin typeface="Myriad Condensed" panose="020B0800000000000000" pitchFamily="34" charset="0"/>
              </a:rPr>
              <a:t>&gt;EntityManager</a:t>
            </a:r>
            <a:endParaRPr lang="en-GB" sz="3600" dirty="0">
              <a:latin typeface="Myriad Condensed" panose="020B0800000000000000" pitchFamily="34" charset="0"/>
            </a:endParaRPr>
          </a:p>
          <a:p>
            <a:pPr marL="914400" lvl="2" indent="0">
              <a:buNone/>
            </a:pPr>
            <a:r>
              <a:rPr lang="en-GB" sz="4000" dirty="0">
                <a:latin typeface="Myriad Condensed" panose="020B0800000000000000" pitchFamily="34" charset="0"/>
              </a:rPr>
              <a:t>&gt;Entity</a:t>
            </a:r>
            <a:endParaRPr lang="en-GB" sz="3200" dirty="0">
              <a:latin typeface="Myriad Condensed" panose="020B0800000000000000" pitchFamily="34" charset="0"/>
            </a:endParaRPr>
          </a:p>
          <a:p>
            <a:pPr marL="1371600" lvl="3" indent="0">
              <a:buNone/>
            </a:pPr>
            <a:r>
              <a:rPr lang="en-GB" sz="4000" dirty="0">
                <a:latin typeface="Myriad Condensed" panose="020B0800000000000000" pitchFamily="34" charset="0"/>
              </a:rPr>
              <a:t>&gt;Component</a:t>
            </a:r>
          </a:p>
        </p:txBody>
      </p:sp>
    </p:spTree>
    <p:extLst>
      <p:ext uri="{BB962C8B-B14F-4D97-AF65-F5344CB8AC3E}">
        <p14:creationId xmlns:p14="http://schemas.microsoft.com/office/powerpoint/2010/main" val="382186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3B81-35C8-AAD0-EA5C-3DD8A69E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Components</a:t>
            </a:r>
          </a:p>
        </p:txBody>
      </p:sp>
      <p:pic>
        <p:nvPicPr>
          <p:cNvPr id="5" name="Picture 4" descr="A group of black and white text&#10;&#10;AI-generated content may be incorrect.">
            <a:extLst>
              <a:ext uri="{FF2B5EF4-FFF2-40B4-BE49-F238E27FC236}">
                <a16:creationId xmlns:a16="http://schemas.microsoft.com/office/drawing/2014/main" id="{C4BCF65C-25D9-DD94-BD9A-FD33EF5BD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2"/>
          <a:stretch>
            <a:fillRect/>
          </a:stretch>
        </p:blipFill>
        <p:spPr>
          <a:xfrm>
            <a:off x="5160723" y="1240077"/>
            <a:ext cx="6487047" cy="5392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D0CFD-0CA3-EECD-0922-0ADC3F497A13}"/>
              </a:ext>
            </a:extLst>
          </p:cNvPr>
          <p:cNvSpPr txBox="1"/>
          <p:nvPr/>
        </p:nvSpPr>
        <p:spPr>
          <a:xfrm>
            <a:off x="544231" y="1891430"/>
            <a:ext cx="4319600" cy="33362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latin typeface="Myriad Condensed" panose="020B0800000000000000" pitchFamily="34" charset="0"/>
              </a:rPr>
              <a:t>Pure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latin typeface="Myriad Condensed" panose="020B0800000000000000" pitchFamily="34" charset="0"/>
              </a:rPr>
              <a:t>Stored in Entity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latin typeface="Myriad Condensed" panose="020B0800000000000000" pitchFamily="34" charset="0"/>
              </a:rPr>
              <a:t>Each Component is its own class</a:t>
            </a:r>
          </a:p>
        </p:txBody>
      </p:sp>
    </p:spTree>
    <p:extLst>
      <p:ext uri="{BB962C8B-B14F-4D97-AF65-F5344CB8AC3E}">
        <p14:creationId xmlns:p14="http://schemas.microsoft.com/office/powerpoint/2010/main" val="51445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ACBC-8879-A448-7480-7F56B2BF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Entity</a:t>
            </a:r>
          </a:p>
        </p:txBody>
      </p:sp>
      <p:pic>
        <p:nvPicPr>
          <p:cNvPr id="5" name="Picture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4F40496C-A4EB-F173-99EF-545E925C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4052"/>
            <a:ext cx="3478484" cy="4353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8543A-1D97-B1CE-2F2E-EC2CD6A6786D}"/>
              </a:ext>
            </a:extLst>
          </p:cNvPr>
          <p:cNvSpPr txBox="1"/>
          <p:nvPr/>
        </p:nvSpPr>
        <p:spPr>
          <a:xfrm>
            <a:off x="5050699" y="1892866"/>
            <a:ext cx="5649238" cy="32616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Entity = Game Object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Stores Component Tuple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Tag = Entity “type”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Active = Alive or Dead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ID = Integer Identifier</a:t>
            </a:r>
          </a:p>
        </p:txBody>
      </p:sp>
    </p:spTree>
    <p:extLst>
      <p:ext uri="{BB962C8B-B14F-4D97-AF65-F5344CB8AC3E}">
        <p14:creationId xmlns:p14="http://schemas.microsoft.com/office/powerpoint/2010/main" val="87442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3173-7983-3819-011F-6EF0BA2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EntityManager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EEF95B4-3C2B-442A-A116-B285C53EC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0538" y="1690688"/>
            <a:ext cx="3959844" cy="3108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E2A5C-03DF-97B4-5F06-503437805D2F}"/>
              </a:ext>
            </a:extLst>
          </p:cNvPr>
          <p:cNvSpPr txBox="1"/>
          <p:nvPr/>
        </p:nvSpPr>
        <p:spPr>
          <a:xfrm>
            <a:off x="838200" y="1690688"/>
            <a:ext cx="6138797" cy="4554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Entity “Factory” Class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Delayed Entity Add()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No Iterator Invalidation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Secondary Map from tag -&gt; entity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Trade storage for convenience / run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Can do other book-keeping like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97233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6044-CC06-37B9-5FD2-379B39FA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746E-3D4C-B9DF-50DD-549D1E7EE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901"/>
            <a:ext cx="4473102" cy="3073840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3200" dirty="0">
                <a:latin typeface="Myriad Condensed" panose="020B0800000000000000" pitchFamily="34" charset="0"/>
              </a:rPr>
              <a:t>Top-Level Game Object</a:t>
            </a:r>
          </a:p>
          <a:p>
            <a:pPr marL="0" indent="0">
              <a:buNone/>
            </a:pPr>
            <a:r>
              <a:rPr lang="en-GB" sz="3200" dirty="0">
                <a:latin typeface="Myriad Condensed" panose="020B0800000000000000" pitchFamily="34" charset="0"/>
              </a:rPr>
              <a:t>Holds all game data</a:t>
            </a:r>
          </a:p>
          <a:p>
            <a:pPr marL="0" indent="0">
              <a:buNone/>
            </a:pPr>
            <a:r>
              <a:rPr lang="en-GB" sz="3200" dirty="0">
                <a:latin typeface="Myriad Condensed" panose="020B0800000000000000" pitchFamily="34" charset="0"/>
              </a:rPr>
              <a:t>All game system functions</a:t>
            </a:r>
          </a:p>
          <a:p>
            <a:pPr marL="0" indent="0">
              <a:buNone/>
            </a:pPr>
            <a:r>
              <a:rPr lang="en-GB" sz="3200" dirty="0">
                <a:latin typeface="Myriad Condensed" panose="020B0800000000000000" pitchFamily="34" charset="0"/>
              </a:rPr>
              <a:t>All gameplay code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18EFA40-7EE9-112C-782E-2B2D2982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42" y="1022456"/>
            <a:ext cx="4699937" cy="547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8D83-6B67-293B-9AB0-9B4660B5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Vec2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FBA8-6B8B-E23D-2557-2DD6B9D3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8591" cy="43513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2D Math Structure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See previous lecture</a:t>
            </a:r>
          </a:p>
          <a:p>
            <a:pPr lvl="1"/>
            <a:endParaRPr lang="en-GB" sz="2800" dirty="0">
              <a:latin typeface="Myriad Condensed" panose="020B0800000000000000" pitchFamily="34" charset="0"/>
            </a:endParaRPr>
          </a:p>
          <a:p>
            <a:r>
              <a:rPr lang="en-GB" sz="3200" dirty="0">
                <a:latin typeface="Myriad Condensed" panose="020B0800000000000000" pitchFamily="34" charset="0"/>
              </a:rPr>
              <a:t>Templated Class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T = (x, y) variable type</a:t>
            </a:r>
          </a:p>
          <a:p>
            <a:pPr lvl="1"/>
            <a:endParaRPr lang="en-GB" sz="2800" dirty="0">
              <a:latin typeface="Myriad Condensed" panose="020B0800000000000000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Vec2f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Vec2</a:t>
            </a:r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float</a:t>
            </a:r>
            <a:r>
              <a:rPr lang="en-GB" dirty="0">
                <a:latin typeface="Consolas" panose="020B0609020204030204" pitchFamily="49" charset="0"/>
              </a:rPr>
              <a:t>&gt;;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E5F3F0-3C6E-576D-4A8F-29050D067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42" y="0"/>
            <a:ext cx="4001058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547A-64C8-3C22-E258-5C70380C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What can this engine do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C3CD-743E-B486-8D00-00755619A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Create game objects as Entity instances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Add Component data to Entities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Implement game play via Systems</a:t>
            </a:r>
          </a:p>
          <a:p>
            <a:pPr lvl="1"/>
            <a:r>
              <a:rPr lang="en-GB" sz="3200" dirty="0">
                <a:latin typeface="Myriad Condensed" panose="020B0800000000000000" pitchFamily="34" charset="0"/>
              </a:rPr>
              <a:t>Also, handle user input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Pause game play / exit game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Can </a:t>
            </a:r>
            <a:r>
              <a:rPr lang="en-GB" sz="3600" dirty="0" err="1">
                <a:latin typeface="Myriad Condensed" panose="020B0800000000000000" pitchFamily="34" charset="0"/>
              </a:rPr>
              <a:t>init</a:t>
            </a:r>
            <a:r>
              <a:rPr lang="en-GB" sz="3600" dirty="0">
                <a:latin typeface="Myriad Condensed" panose="020B0800000000000000" pitchFamily="34" charset="0"/>
              </a:rPr>
              <a:t> / load configuration from file</a:t>
            </a:r>
          </a:p>
        </p:txBody>
      </p:sp>
    </p:spTree>
    <p:extLst>
      <p:ext uri="{BB962C8B-B14F-4D97-AF65-F5344CB8AC3E}">
        <p14:creationId xmlns:p14="http://schemas.microsoft.com/office/powerpoint/2010/main" val="350348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9A1C-8D7A-5FE9-6623-75F1EEDD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42C-7AED-361D-76E1-1729067E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What are the limitations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98B4-6833-F482-E3B9-982CD67E8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Can only display one “scene”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Can NOT load texture / sounds assets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Can NOT display textured animations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Does not have any menu / interface</a:t>
            </a:r>
          </a:p>
        </p:txBody>
      </p:sp>
    </p:spTree>
    <p:extLst>
      <p:ext uri="{BB962C8B-B14F-4D97-AF65-F5344CB8AC3E}">
        <p14:creationId xmlns:p14="http://schemas.microsoft.com/office/powerpoint/2010/main" val="100810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38BA3-60A2-57FF-C6D7-0B35908C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 dirty="0">
                <a:latin typeface="Myriad Condensed" panose="020B0800000000000000" pitchFamily="34" charset="0"/>
              </a:rPr>
              <a:t>Game Scene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CB87F5A-03CB-8BA9-D013-53BC571F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2423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AD30B-6674-A146-98A7-A42AE620F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Myriad Condensed" panose="020B0800000000000000" pitchFamily="34" charset="0"/>
              </a:rPr>
              <a:t>A game can contain many different “scenes” that have very different logic / controls</a:t>
            </a:r>
          </a:p>
          <a:p>
            <a:r>
              <a:rPr lang="en-GB" sz="2200" dirty="0">
                <a:latin typeface="Myriad Condensed" panose="020B0800000000000000" pitchFamily="34" charset="0"/>
              </a:rPr>
              <a:t>Example: RPG Games</a:t>
            </a:r>
          </a:p>
          <a:p>
            <a:pPr lvl="1"/>
            <a:r>
              <a:rPr lang="en-GB" sz="2200" dirty="0">
                <a:latin typeface="Myriad Condensed" panose="020B0800000000000000" pitchFamily="34" charset="0"/>
              </a:rPr>
              <a:t>Menu / Text / Dialogue Scene</a:t>
            </a:r>
          </a:p>
          <a:p>
            <a:pPr lvl="1"/>
            <a:r>
              <a:rPr lang="en-GB" sz="2200" dirty="0">
                <a:latin typeface="Myriad Condensed" panose="020B0800000000000000" pitchFamily="34" charset="0"/>
              </a:rPr>
              <a:t>World-Map Scene</a:t>
            </a:r>
          </a:p>
          <a:p>
            <a:pPr lvl="1"/>
            <a:r>
              <a:rPr lang="en-GB" sz="2200" dirty="0">
                <a:latin typeface="Myriad Condensed" panose="020B0800000000000000" pitchFamily="34" charset="0"/>
              </a:rPr>
              <a:t>Combat / Battle Scene</a:t>
            </a:r>
          </a:p>
          <a:p>
            <a:r>
              <a:rPr lang="en-GB" sz="2200" dirty="0">
                <a:latin typeface="Myriad Condensed" panose="020B0800000000000000" pitchFamily="34" charset="0"/>
              </a:rPr>
              <a:t>How can our architecture allow for different game states ? </a:t>
            </a:r>
          </a:p>
        </p:txBody>
      </p:sp>
    </p:spTree>
    <p:extLst>
      <p:ext uri="{BB962C8B-B14F-4D97-AF65-F5344CB8AC3E}">
        <p14:creationId xmlns:p14="http://schemas.microsoft.com/office/powerpoint/2010/main" val="28189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AA9C-B177-C77A-8AA0-D6EA79FC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01687-F415-A46D-01E8-92AE9A6FB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17860" cy="4351338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Circles drawn on screen aren’t true math circles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Can’t draw infinite points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Decide on some number of points to draw</a:t>
            </a:r>
          </a:p>
        </p:txBody>
      </p:sp>
      <p:pic>
        <p:nvPicPr>
          <p:cNvPr id="6" name="Picture 5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E35F97FA-AD1A-710E-623B-FD3CB531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29" y="1207719"/>
            <a:ext cx="3320271" cy="34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1199-B1A1-9542-0E46-402AE44D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6FB31-6911-EF60-99A0-2820F5BA2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lvl="1"/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latin typeface="Myriad Condensed" panose="020B0800000000000000" pitchFamily="34" charset="0"/>
              </a:rPr>
              <a:t>Example: p = 128</a:t>
            </a:r>
          </a:p>
        </p:txBody>
      </p:sp>
      <p:pic>
        <p:nvPicPr>
          <p:cNvPr id="4" name="Picture 3" descr="A black circle with a white background&#10;&#10;AI-generated content may be incorrect.">
            <a:extLst>
              <a:ext uri="{FF2B5EF4-FFF2-40B4-BE49-F238E27FC236}">
                <a16:creationId xmlns:a16="http://schemas.microsoft.com/office/drawing/2014/main" id="{39E0DE61-6F1B-E7EA-4866-4B837F68E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29" y="1207719"/>
            <a:ext cx="3320271" cy="34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9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D2A2-85F5-95D0-D14C-C428F65B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5095-9762-BFE6-CE47-C2DF6BE6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0E273-2045-2E74-D398-E0118283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(3);</a:t>
            </a:r>
          </a:p>
        </p:txBody>
      </p:sp>
      <p:pic>
        <p:nvPicPr>
          <p:cNvPr id="6" name="Picture 5" descr="A black triangle with red heart&#10;&#10;AI-generated content may be incorrect.">
            <a:extLst>
              <a:ext uri="{FF2B5EF4-FFF2-40B4-BE49-F238E27FC236}">
                <a16:creationId xmlns:a16="http://schemas.microsoft.com/office/drawing/2014/main" id="{ED8ECBBE-FDF9-3EE2-E004-F2D44C69C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776" y="1553228"/>
            <a:ext cx="2206486" cy="198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2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9980-6CB4-CA19-D466-2E4FA16A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F14C-B252-AA5A-6BEF-2018FA081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C8ABD-1C6B-F421-F11D-5F4AE4BF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(6);</a:t>
            </a:r>
          </a:p>
        </p:txBody>
      </p:sp>
      <p:pic>
        <p:nvPicPr>
          <p:cNvPr id="5" name="Picture 4" descr="A black hexagon with a white background&#10;&#10;AI-generated content may be incorrect.">
            <a:extLst>
              <a:ext uri="{FF2B5EF4-FFF2-40B4-BE49-F238E27FC236}">
                <a16:creationId xmlns:a16="http://schemas.microsoft.com/office/drawing/2014/main" id="{9BBB5F4C-2C22-9CFA-A963-BDCF0237F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948" y="1580955"/>
            <a:ext cx="2245863" cy="20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96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CBEE-F6D3-FB1B-C853-00F7958B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8B04-F186-9925-16EC-8F058D01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68C1-4163-81C9-6AAA-BEADBF401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(6);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c.setOutlineThickness</a:t>
            </a:r>
            <a:r>
              <a:rPr lang="en-GB" dirty="0">
                <a:latin typeface="Consolas" panose="020B0609020204030204" pitchFamily="49" charset="0"/>
              </a:rPr>
              <a:t>(20);</a:t>
            </a:r>
          </a:p>
        </p:txBody>
      </p:sp>
      <p:pic>
        <p:nvPicPr>
          <p:cNvPr id="6" name="Picture 5" descr="A black hexagon with a white background&#10;&#10;AI-generated content may be incorrect.">
            <a:extLst>
              <a:ext uri="{FF2B5EF4-FFF2-40B4-BE49-F238E27FC236}">
                <a16:creationId xmlns:a16="http://schemas.microsoft.com/office/drawing/2014/main" id="{2A8C1735-614A-9821-AD88-E505EBD1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114" y="1688881"/>
            <a:ext cx="2475817" cy="231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42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8EC2-DA74-4735-E058-82CAC148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B5F8-CFE8-8E1F-4194-C5C36ED6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869E-AE8A-5C19-17E2-DF87A7AB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(6);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c.setOutlineThickness</a:t>
            </a:r>
            <a:r>
              <a:rPr lang="en-GB" dirty="0">
                <a:latin typeface="Consolas" panose="020B0609020204030204" pitchFamily="49" charset="0"/>
              </a:rPr>
              <a:t>(20);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c.setOutlineColor</a:t>
            </a:r>
            <a:r>
              <a:rPr lang="en-GB" dirty="0">
                <a:latin typeface="Consolas" panose="020B0609020204030204" pitchFamily="49" charset="0"/>
              </a:rPr>
              <a:t>(red);</a:t>
            </a:r>
          </a:p>
        </p:txBody>
      </p:sp>
      <p:pic>
        <p:nvPicPr>
          <p:cNvPr id="5" name="Picture 4" descr="A red hexagon with white background&#10;&#10;AI-generated content may be incorrect.">
            <a:extLst>
              <a:ext uri="{FF2B5EF4-FFF2-40B4-BE49-F238E27FC236}">
                <a16:creationId xmlns:a16="http://schemas.microsoft.com/office/drawing/2014/main" id="{D516DDF5-D3DB-A621-E113-86278BB1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467" y="1690688"/>
            <a:ext cx="2453030" cy="23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9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1E97-E997-BDDD-DEFF-7D99F60D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DD97-7C11-44B1-D7A2-139056E5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4AE8-C78A-0D5B-0116-1A55A7A91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(6);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c.setOutlineThickness</a:t>
            </a:r>
            <a:r>
              <a:rPr lang="en-GB" dirty="0">
                <a:latin typeface="Consolas" panose="020B0609020204030204" pitchFamily="49" charset="0"/>
              </a:rPr>
              <a:t>(20);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c.setOutlineColor</a:t>
            </a:r>
            <a:r>
              <a:rPr lang="en-GB" dirty="0">
                <a:latin typeface="Consolas" panose="020B0609020204030204" pitchFamily="49" charset="0"/>
              </a:rPr>
              <a:t>(red);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c.setFillColor</a:t>
            </a:r>
            <a:r>
              <a:rPr lang="en-GB" dirty="0">
                <a:latin typeface="Consolas" panose="020B0609020204030204" pitchFamily="49" charset="0"/>
              </a:rPr>
              <a:t>(blue);</a:t>
            </a:r>
          </a:p>
        </p:txBody>
      </p:sp>
      <p:pic>
        <p:nvPicPr>
          <p:cNvPr id="12" name="Picture 11" descr="A blue and red hexagon with a red dot&#10;&#10;AI-generated content may be incorrect.">
            <a:extLst>
              <a:ext uri="{FF2B5EF4-FFF2-40B4-BE49-F238E27FC236}">
                <a16:creationId xmlns:a16="http://schemas.microsoft.com/office/drawing/2014/main" id="{8C2CDA11-6AF1-C6C8-9D06-07832E0E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414" y="1689500"/>
            <a:ext cx="2454205" cy="231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53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CF6A4-3B2F-3408-4B35-181C0BFC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4E20-A033-2FFE-C175-48F03B77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46A25-5811-6B00-17AB-C963D144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c.setPointCount</a:t>
            </a:r>
            <a:r>
              <a:rPr lang="en-GB" dirty="0">
                <a:latin typeface="Consolas" panose="020B0609020204030204" pitchFamily="49" charset="0"/>
              </a:rPr>
              <a:t>(6);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c.setOutlineThickness</a:t>
            </a:r>
            <a:r>
              <a:rPr lang="en-GB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c.setOutlineColor</a:t>
            </a:r>
            <a:r>
              <a:rPr lang="en-GB" dirty="0">
                <a:latin typeface="Consolas" panose="020B0609020204030204" pitchFamily="49" charset="0"/>
              </a:rPr>
              <a:t>(red);</a:t>
            </a:r>
          </a:p>
          <a:p>
            <a:pPr marL="0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c.setFillColor</a:t>
            </a:r>
            <a:r>
              <a:rPr lang="en-GB" dirty="0">
                <a:latin typeface="Consolas" panose="020B0609020204030204" pitchFamily="49" charset="0"/>
              </a:rPr>
              <a:t>(blue);</a:t>
            </a:r>
          </a:p>
        </p:txBody>
      </p:sp>
      <p:pic>
        <p:nvPicPr>
          <p:cNvPr id="5" name="Picture 4" descr="A blue hexagon with a red dot&#10;&#10;AI-generated content may be incorrect.">
            <a:extLst>
              <a:ext uri="{FF2B5EF4-FFF2-40B4-BE49-F238E27FC236}">
                <a16:creationId xmlns:a16="http://schemas.microsoft.com/office/drawing/2014/main" id="{1447B330-204E-3BE4-88E6-13ED0E4E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202" y="2256133"/>
            <a:ext cx="1875808" cy="16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16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CED6-4C9C-55EC-06CC-3C62D9B6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CC58-4FAA-D8C5-C0EC-D5F251A1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38FF-FC3C-7567-D26C-BBD0FA82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6260" cy="4351338"/>
          </a:xfrm>
        </p:spPr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r>
              <a:rPr lang="en-GB" dirty="0" err="1">
                <a:latin typeface="Consolas" panose="020B0609020204030204" pitchFamily="49" charset="0"/>
              </a:rPr>
              <a:t>c.setOrigin</a:t>
            </a:r>
            <a:r>
              <a:rPr lang="en-GB" dirty="0">
                <a:latin typeface="Consolas" panose="020B0609020204030204" pitchFamily="49" charset="0"/>
              </a:rPr>
              <a:t>({0,0})</a:t>
            </a:r>
          </a:p>
          <a:p>
            <a:pPr lvl="1"/>
            <a:r>
              <a:rPr lang="en-GB" dirty="0" err="1">
                <a:latin typeface="Myriad Condensed" panose="020B0800000000000000" pitchFamily="34" charset="0"/>
              </a:rPr>
              <a:t>window.draw</a:t>
            </a:r>
            <a:r>
              <a:rPr lang="en-GB" dirty="0">
                <a:latin typeface="Myriad Condensed" panose="020B0800000000000000" pitchFamily="34" charset="0"/>
              </a:rPr>
              <a:t>(c) will draw the origin at c’s position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D3B69E-2EFA-53A7-EBF6-3808442D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734" y="1144903"/>
            <a:ext cx="3758214" cy="381540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0F1AE9-3397-336A-68CE-BB7F13C4301D}"/>
              </a:ext>
            </a:extLst>
          </p:cNvPr>
          <p:cNvCxnSpPr/>
          <p:nvPr/>
        </p:nvCxnSpPr>
        <p:spPr>
          <a:xfrm flipV="1">
            <a:off x="4609578" y="1202499"/>
            <a:ext cx="2580362" cy="206679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321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BF1E6-8319-64B4-48B1-BEA587F2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2F90-32AB-89DA-85B4-950B9297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SFML Circles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35A49-0B4B-802A-C463-D5D68C790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6260" cy="4351338"/>
          </a:xfrm>
        </p:spPr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sf::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CircleShape</a:t>
            </a:r>
            <a:r>
              <a:rPr lang="en-GB" dirty="0">
                <a:latin typeface="Consolas" panose="020B0609020204030204" pitchFamily="49" charset="0"/>
              </a:rPr>
              <a:t> c(r, p);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r = radius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P = point count</a:t>
            </a:r>
          </a:p>
          <a:p>
            <a:r>
              <a:rPr lang="en-GB" dirty="0" err="1">
                <a:latin typeface="Consolas" panose="020B0609020204030204" pitchFamily="49" charset="0"/>
              </a:rPr>
              <a:t>c.setOrigin</a:t>
            </a:r>
            <a:r>
              <a:rPr lang="en-GB" dirty="0">
                <a:latin typeface="Consolas" panose="020B0609020204030204" pitchFamily="49" charset="0"/>
              </a:rPr>
              <a:t>({</a:t>
            </a:r>
            <a:r>
              <a:rPr lang="en-GB" dirty="0" err="1">
                <a:latin typeface="Consolas" panose="020B0609020204030204" pitchFamily="49" charset="0"/>
              </a:rPr>
              <a:t>r,r</a:t>
            </a:r>
            <a:r>
              <a:rPr lang="en-GB" dirty="0">
                <a:latin typeface="Consolas" panose="020B0609020204030204" pitchFamily="49" charset="0"/>
              </a:rPr>
              <a:t>})</a:t>
            </a: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We want circle position to represent its </a:t>
            </a:r>
            <a:r>
              <a:rPr lang="en-GB" dirty="0" err="1">
                <a:latin typeface="Myriad Condensed" panose="020B0800000000000000" pitchFamily="34" charset="0"/>
              </a:rPr>
              <a:t>center</a:t>
            </a:r>
            <a:endParaRPr lang="en-GB" dirty="0">
              <a:latin typeface="Myriad Condensed" panose="020B0800000000000000" pitchFamily="34" charset="0"/>
            </a:endParaRPr>
          </a:p>
          <a:p>
            <a:pPr lvl="1"/>
            <a:r>
              <a:rPr lang="en-GB" dirty="0">
                <a:latin typeface="Myriad Condensed" panose="020B0800000000000000" pitchFamily="34" charset="0"/>
              </a:rPr>
              <a:t>Collision math easier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ABF9D-5712-2C62-07DD-3214C249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734" y="1144903"/>
            <a:ext cx="3758214" cy="381540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784DD9-3E93-42DC-B565-1DF249B3C3B1}"/>
              </a:ext>
            </a:extLst>
          </p:cNvPr>
          <p:cNvCxnSpPr>
            <a:cxnSpLocks/>
          </p:cNvCxnSpPr>
          <p:nvPr/>
        </p:nvCxnSpPr>
        <p:spPr>
          <a:xfrm flipV="1">
            <a:off x="4609578" y="3073940"/>
            <a:ext cx="4524694" cy="19535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171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60F1-46F7-BE3C-46B9-A89CE21A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latin typeface="Myriad Condensed" panose="020B0800000000000000" pitchFamily="34" charset="0"/>
              </a:rPr>
              <a:t>Circle Collisions</a:t>
            </a:r>
          </a:p>
        </p:txBody>
      </p:sp>
      <p:pic>
        <p:nvPicPr>
          <p:cNvPr id="5" name="Picture 4" descr="A two circles with text&#10;&#10;AI-generated content may be incorrect.">
            <a:extLst>
              <a:ext uri="{FF2B5EF4-FFF2-40B4-BE49-F238E27FC236}">
                <a16:creationId xmlns:a16="http://schemas.microsoft.com/office/drawing/2014/main" id="{34196AEE-ED67-1F7F-A612-9747B51E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37" y="1897024"/>
            <a:ext cx="8726118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74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563A-C36C-E65C-9EA3-110D2283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Shape Collisions</a:t>
            </a:r>
          </a:p>
        </p:txBody>
      </p:sp>
      <p:pic>
        <p:nvPicPr>
          <p:cNvPr id="5" name="Picture 4" descr="A black hexagon with a red dot&#10;&#10;AI-generated content may be incorrect.">
            <a:extLst>
              <a:ext uri="{FF2B5EF4-FFF2-40B4-BE49-F238E27FC236}">
                <a16:creationId xmlns:a16="http://schemas.microsoft.com/office/drawing/2014/main" id="{E6EE2AAE-14A2-5AFD-AED4-6931B51F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1819050"/>
            <a:ext cx="9059539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39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E73C-2E99-20FD-7C78-E9854723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0968-32FC-D7B2-9198-7C093655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Shape Collisions</a:t>
            </a:r>
          </a:p>
        </p:txBody>
      </p:sp>
      <p:pic>
        <p:nvPicPr>
          <p:cNvPr id="4" name="Picture 3" descr="A black and white image of a hexagon and a red dot&#10;&#10;AI-generated content may be incorrect.">
            <a:extLst>
              <a:ext uri="{FF2B5EF4-FFF2-40B4-BE49-F238E27FC236}">
                <a16:creationId xmlns:a16="http://schemas.microsoft.com/office/drawing/2014/main" id="{1DB41126-1147-CDFC-1D3E-6D250C1DA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1680918"/>
            <a:ext cx="7544853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CD2D-62A1-6280-1934-A46E7E04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8909-9CB0-B261-4995-003C3E3F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Shape Collisions</a:t>
            </a:r>
          </a:p>
        </p:txBody>
      </p:sp>
      <p:pic>
        <p:nvPicPr>
          <p:cNvPr id="5" name="Picture 4" descr="A black and white circle with a red dot in the center&#10;&#10;AI-generated content may be incorrect.">
            <a:extLst>
              <a:ext uri="{FF2B5EF4-FFF2-40B4-BE49-F238E27FC236}">
                <a16:creationId xmlns:a16="http://schemas.microsoft.com/office/drawing/2014/main" id="{191A34F2-7E2D-F053-9A04-1F28DBFD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1561839"/>
            <a:ext cx="6192114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11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1CC6-41CE-7935-1682-537F13BB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Small Enemy Spawning</a:t>
            </a:r>
          </a:p>
        </p:txBody>
      </p:sp>
      <p:pic>
        <p:nvPicPr>
          <p:cNvPr id="5" name="Picture 4" descr="A black hexagon with a red dot&#10;&#10;AI-generated content may be incorrect.">
            <a:extLst>
              <a:ext uri="{FF2B5EF4-FFF2-40B4-BE49-F238E27FC236}">
                <a16:creationId xmlns:a16="http://schemas.microsoft.com/office/drawing/2014/main" id="{B2B02A1B-7696-8BCA-93F5-82AD1050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024" y="2447988"/>
            <a:ext cx="3057952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47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CDCD-DEA2-0F13-499F-0EF7536E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1675-A791-48BF-BF72-7A72A014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Small Enemy Spawning</a:t>
            </a:r>
          </a:p>
        </p:txBody>
      </p:sp>
      <p:pic>
        <p:nvPicPr>
          <p:cNvPr id="4" name="Picture 3" descr="A drawing of a hexagon with arrows pointing to the center&#10;&#10;AI-generated content may be incorrect.">
            <a:extLst>
              <a:ext uri="{FF2B5EF4-FFF2-40B4-BE49-F238E27FC236}">
                <a16:creationId xmlns:a16="http://schemas.microsoft.com/office/drawing/2014/main" id="{47DBD0AA-607C-5EA0-1925-B2CCC659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1418944"/>
            <a:ext cx="4906060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05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C279-B249-AD4D-FE30-95D61FCA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1425-E50A-2716-645B-1E560022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Small Enemy Spawning</a:t>
            </a:r>
          </a:p>
        </p:txBody>
      </p:sp>
      <p:pic>
        <p:nvPicPr>
          <p:cNvPr id="3" name="2025-12-10 23-27-01">
            <a:hlinkClick r:id="" action="ppaction://media"/>
            <a:extLst>
              <a:ext uri="{FF2B5EF4-FFF2-40B4-BE49-F238E27FC236}">
                <a16:creationId xmlns:a16="http://schemas.microsoft.com/office/drawing/2014/main" id="{DA655C69-41F9-3287-1723-1A841A3978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7593" r="8975" b="5807"/>
          <a:stretch>
            <a:fillRect/>
          </a:stretch>
        </p:blipFill>
        <p:spPr>
          <a:xfrm>
            <a:off x="1211093" y="2373548"/>
            <a:ext cx="8654552" cy="26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5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5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635</Words>
  <Application>Microsoft Office PowerPoint</Application>
  <PresentationFormat>Widescreen</PresentationFormat>
  <Paragraphs>143</Paragraphs>
  <Slides>28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Myriad Condensed</vt:lpstr>
      <vt:lpstr>Office Theme</vt:lpstr>
      <vt:lpstr>PowerPoint Presentation</vt:lpstr>
      <vt:lpstr>Engine Architecture Progression</vt:lpstr>
      <vt:lpstr>A2 Engine Architecture</vt:lpstr>
      <vt:lpstr>Components</vt:lpstr>
      <vt:lpstr>Entity</vt:lpstr>
      <vt:lpstr>EntityManager</vt:lpstr>
      <vt:lpstr>Game</vt:lpstr>
      <vt:lpstr>Vec2</vt:lpstr>
      <vt:lpstr>What can this engine do ?</vt:lpstr>
      <vt:lpstr>What are the limitations ?</vt:lpstr>
      <vt:lpstr>Game Scene</vt:lpstr>
      <vt:lpstr>Circles</vt:lpstr>
      <vt:lpstr>SFML Circles</vt:lpstr>
      <vt:lpstr>SFML Circles</vt:lpstr>
      <vt:lpstr>SFML Circles</vt:lpstr>
      <vt:lpstr>SFML Circles</vt:lpstr>
      <vt:lpstr>SFML Circles</vt:lpstr>
      <vt:lpstr>SFML Circles</vt:lpstr>
      <vt:lpstr>SFML Circles</vt:lpstr>
      <vt:lpstr>SFML Circles</vt:lpstr>
      <vt:lpstr>SFML Circles</vt:lpstr>
      <vt:lpstr>Circle Collisions</vt:lpstr>
      <vt:lpstr>Shape Collisions</vt:lpstr>
      <vt:lpstr>Shape Collisions</vt:lpstr>
      <vt:lpstr>Shape Collisions</vt:lpstr>
      <vt:lpstr>Small Enemy Spawning</vt:lpstr>
      <vt:lpstr>Small Enemy Spawning</vt:lpstr>
      <vt:lpstr>Small Enemy Spawning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Fajer</dc:creator>
  <cp:lastModifiedBy>Mohammed Fajer</cp:lastModifiedBy>
  <cp:revision>2</cp:revision>
  <dcterms:created xsi:type="dcterms:W3CDTF">2025-12-10T21:54:50Z</dcterms:created>
  <dcterms:modified xsi:type="dcterms:W3CDTF">2025-12-12T14:59:03Z</dcterms:modified>
</cp:coreProperties>
</file>